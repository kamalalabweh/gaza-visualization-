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76" r:id="rId2"/>
    <p:sldId id="256" r:id="rId3"/>
    <p:sldId id="258" r:id="rId4"/>
    <p:sldId id="259" r:id="rId5"/>
    <p:sldId id="277" r:id="rId6"/>
    <p:sldId id="261" r:id="rId7"/>
    <p:sldId id="263" r:id="rId8"/>
    <p:sldId id="260" r:id="rId9"/>
    <p:sldId id="278" r:id="rId10"/>
    <p:sldId id="264" r:id="rId11"/>
    <p:sldId id="265" r:id="rId12"/>
    <p:sldId id="266" r:id="rId13"/>
    <p:sldId id="279" r:id="rId14"/>
    <p:sldId id="262" r:id="rId15"/>
    <p:sldId id="267" r:id="rId16"/>
    <p:sldId id="268" r:id="rId17"/>
    <p:sldId id="280" r:id="rId18"/>
    <p:sldId id="269" r:id="rId19"/>
    <p:sldId id="270" r:id="rId20"/>
    <p:sldId id="281" r:id="rId21"/>
    <p:sldId id="271" r:id="rId22"/>
    <p:sldId id="272" r:id="rId23"/>
    <p:sldId id="282" r:id="rId24"/>
    <p:sldId id="273" r:id="rId25"/>
    <p:sldId id="274" r:id="rId26"/>
    <p:sldId id="275" r:id="rId27"/>
  </p:sldIdLst>
  <p:sldSz cx="14630400" cy="8229600"/>
  <p:notesSz cx="8229600" cy="14630400"/>
  <p:embeddedFontLst>
    <p:embeddedFont>
      <p:font typeface="Consolas" panose="020B0609020204030204" pitchFamily="49" charset="0"/>
      <p:regular r:id="rId29"/>
      <p:bold r:id="rId30"/>
      <p:italic r:id="rId31"/>
      <p:boldItalic r:id="rId32"/>
    </p:embeddedFont>
    <p:embeddedFont>
      <p:font typeface="Geist"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23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294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748478" y="1445952"/>
            <a:ext cx="11221277" cy="5139869"/>
          </a:xfrm>
          <a:prstGeom prst="rect">
            <a:avLst/>
          </a:prstGeom>
          <a:noFill/>
        </p:spPr>
        <p:txBody>
          <a:bodyPr wrap="square" lIns="91440" tIns="45720" rIns="91440" bIns="45720">
            <a:spAutoFit/>
          </a:bodyPr>
          <a:lstStyle/>
          <a:p>
            <a:pPr algn="ctr"/>
            <a:r>
              <a:rPr lang="en-GB" sz="4800" b="1" dirty="0">
                <a:ln w="0"/>
                <a:solidFill>
                  <a:srgbClr val="006747"/>
                </a:solidFill>
              </a:rPr>
              <a:t>A Data-Driven Visualization and prediction</a:t>
            </a:r>
          </a:p>
          <a:p>
            <a:pPr algn="ctr"/>
            <a:r>
              <a:rPr lang="en-GB" sz="4800" b="1" cap="none" spc="0" dirty="0">
                <a:ln w="0"/>
                <a:solidFill>
                  <a:srgbClr val="006747"/>
                </a:solidFill>
              </a:rPr>
              <a:t>Study of conflict Impacts on Education and</a:t>
            </a:r>
          </a:p>
          <a:p>
            <a:pPr algn="ctr"/>
            <a:r>
              <a:rPr lang="en-GB" sz="4800" b="1" dirty="0">
                <a:ln w="0"/>
                <a:solidFill>
                  <a:srgbClr val="006747"/>
                </a:solidFill>
              </a:rPr>
              <a:t>Food Security in Gaza</a:t>
            </a:r>
          </a:p>
          <a:p>
            <a:pPr algn="ctr"/>
            <a:endParaRPr lang="en-GB" sz="4800" b="1" dirty="0">
              <a:ln w="0"/>
              <a:solidFill>
                <a:srgbClr val="006747"/>
              </a:solidFill>
            </a:endParaRPr>
          </a:p>
          <a:p>
            <a:pPr algn="ctr"/>
            <a:r>
              <a:rPr lang="en-GB" sz="4800" b="1" dirty="0">
                <a:ln w="0"/>
                <a:solidFill>
                  <a:schemeClr val="bg2">
                    <a:lumMod val="10000"/>
                  </a:schemeClr>
                </a:solidFill>
              </a:rPr>
              <a:t>Dr.Hussam Barham</a:t>
            </a:r>
          </a:p>
          <a:p>
            <a:endParaRPr lang="en-GB" sz="4000" b="1" dirty="0">
              <a:ln w="0"/>
              <a:solidFill>
                <a:srgbClr val="006747"/>
              </a:solidFill>
            </a:endParaRPr>
          </a:p>
          <a:p>
            <a:pPr algn="r"/>
            <a:endParaRPr lang="en-GB" sz="4800" b="1" dirty="0">
              <a:ln w="0"/>
              <a:solidFill>
                <a:srgbClr val="006747"/>
              </a:solidFill>
            </a:endParaRPr>
          </a:p>
        </p:txBody>
      </p:sp>
      <p:sp>
        <p:nvSpPr>
          <p:cNvPr id="9" name="Rectangle 8"/>
          <p:cNvSpPr/>
          <p:nvPr/>
        </p:nvSpPr>
        <p:spPr>
          <a:xfrm>
            <a:off x="9652859" y="5755067"/>
            <a:ext cx="2622834" cy="1200329"/>
          </a:xfrm>
          <a:prstGeom prst="rect">
            <a:avLst/>
          </a:prstGeom>
          <a:noFill/>
        </p:spPr>
        <p:txBody>
          <a:bodyPr wrap="none" lIns="91440" tIns="45720" rIns="91440" bIns="45720">
            <a:spAutoFit/>
          </a:bodyPr>
          <a:lstStyle/>
          <a:p>
            <a:pPr algn="ctr"/>
            <a:r>
              <a:rPr lang="en-GB" sz="3600" b="1" dirty="0">
                <a:ln w="0"/>
                <a:solidFill>
                  <a:schemeClr val="bg2">
                    <a:lumMod val="10000"/>
                  </a:schemeClr>
                </a:solidFill>
              </a:rPr>
              <a:t>Jana Alsharif</a:t>
            </a:r>
          </a:p>
          <a:p>
            <a:pPr algn="ctr"/>
            <a:r>
              <a:rPr lang="en-GB" sz="3600" b="1" cap="none" spc="0" dirty="0">
                <a:ln w="0"/>
                <a:solidFill>
                  <a:srgbClr val="006747"/>
                </a:solidFill>
              </a:rPr>
              <a:t>202210856</a:t>
            </a:r>
            <a:endParaRPr lang="en-US" sz="3600" b="1" cap="none" spc="0" dirty="0">
              <a:ln w="0"/>
              <a:solidFill>
                <a:srgbClr val="006747"/>
              </a:solidFill>
            </a:endParaRPr>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1" y="0"/>
            <a:ext cx="1572251" cy="1779104"/>
          </a:xfrm>
          <a:prstGeom prst="rect">
            <a:avLst/>
          </a:prstGeom>
          <a:ln>
            <a:noFill/>
          </a:ln>
          <a:effectLst>
            <a:outerShdw blurRad="292100" dist="139700" dir="2700000" algn="tl" rotWithShape="0">
              <a:srgbClr val="333333">
                <a:alpha val="65000"/>
              </a:srgbClr>
            </a:outerShdw>
          </a:effectLst>
        </p:spPr>
      </p:pic>
      <p:pic>
        <p:nvPicPr>
          <p:cNvPr id="11" name="Picture 10"/>
          <p:cNvPicPr>
            <a:picLocks noChangeAspect="1"/>
          </p:cNvPicPr>
          <p:nvPr/>
        </p:nvPicPr>
        <p:blipFill>
          <a:blip r:embed="rId4">
            <a:extLst>
              <a:ext uri="{BEBA8EAE-BF5A-486C-A8C5-ECC9F3942E4B}">
                <a14:imgProps xmlns:a14="http://schemas.microsoft.com/office/drawing/2010/main">
                  <a14:imgLayer r:embed="rId5">
                    <a14:imgEffect>
                      <a14:backgroundRemoval t="0" b="99556" l="0" r="99556">
                        <a14:foregroundMark x1="76000" y1="4444" x2="0" y2="82222"/>
                        <a14:foregroundMark x1="2667" y1="85778" x2="25333" y2="98667"/>
                        <a14:foregroundMark x1="84444" y1="3111" x2="99556" y2="29778"/>
                      </a14:backgroundRemoval>
                    </a14:imgEffect>
                  </a14:imgLayer>
                </a14:imgProps>
              </a:ext>
            </a:extLst>
          </a:blip>
          <a:stretch>
            <a:fillRect/>
          </a:stretch>
        </p:blipFill>
        <p:spPr>
          <a:xfrm>
            <a:off x="13145984" y="178906"/>
            <a:ext cx="1219931" cy="1219931"/>
          </a:xfrm>
          <a:prstGeom prst="rect">
            <a:avLst/>
          </a:prstGeom>
        </p:spPr>
      </p:pic>
      <p:sp>
        <p:nvSpPr>
          <p:cNvPr id="2" name="TextBox 1">
            <a:extLst>
              <a:ext uri="{FF2B5EF4-FFF2-40B4-BE49-F238E27FC236}">
                <a16:creationId xmlns:a16="http://schemas.microsoft.com/office/drawing/2014/main" id="{C6ADFFC2-09E7-B948-1062-13D22FC5DBE7}"/>
              </a:ext>
            </a:extLst>
          </p:cNvPr>
          <p:cNvSpPr txBox="1"/>
          <p:nvPr/>
        </p:nvSpPr>
        <p:spPr>
          <a:xfrm>
            <a:off x="1749287" y="5755067"/>
            <a:ext cx="4144618" cy="1477328"/>
          </a:xfrm>
          <a:prstGeom prst="rect">
            <a:avLst/>
          </a:prstGeom>
          <a:noFill/>
        </p:spPr>
        <p:txBody>
          <a:bodyPr wrap="square" rtlCol="0">
            <a:spAutoFit/>
          </a:bodyPr>
          <a:lstStyle/>
          <a:p>
            <a:pPr algn="ctr"/>
            <a:r>
              <a:rPr lang="en-GB" sz="3600" b="1" dirty="0">
                <a:ln w="0"/>
                <a:solidFill>
                  <a:schemeClr val="bg2">
                    <a:lumMod val="10000"/>
                  </a:schemeClr>
                </a:solidFill>
              </a:rPr>
              <a:t>Kamal Alabweh</a:t>
            </a:r>
          </a:p>
          <a:p>
            <a:pPr algn="ctr"/>
            <a:r>
              <a:rPr lang="en-GB" sz="3600" b="1" dirty="0">
                <a:ln w="0"/>
                <a:solidFill>
                  <a:srgbClr val="006747"/>
                </a:solidFill>
              </a:rPr>
              <a:t>201911362</a:t>
            </a:r>
          </a:p>
          <a:p>
            <a:endParaRPr lang="en-US" dirty="0"/>
          </a:p>
        </p:txBody>
      </p:sp>
    </p:spTree>
    <p:extLst>
      <p:ext uri="{BB962C8B-B14F-4D97-AF65-F5344CB8AC3E}">
        <p14:creationId xmlns:p14="http://schemas.microsoft.com/office/powerpoint/2010/main" val="116876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48608" y="1526142"/>
            <a:ext cx="8219582" cy="1240155"/>
          </a:xfrm>
          <a:prstGeom prst="rect">
            <a:avLst/>
          </a:prstGeom>
          <a:noFill/>
          <a:ln/>
        </p:spPr>
        <p:txBody>
          <a:bodyPr wrap="square" lIns="0" tIns="0" rIns="0" bIns="0" rtlCol="0" anchor="t"/>
          <a:lstStyle/>
          <a:p>
            <a:pPr marL="0" indent="0" algn="ctr">
              <a:lnSpc>
                <a:spcPts val="4850"/>
              </a:lnSpc>
              <a:buNone/>
            </a:pPr>
            <a:r>
              <a:rPr lang="en-GB" sz="5400" b="1" dirty="0">
                <a:solidFill>
                  <a:srgbClr val="006747"/>
                </a:solidFill>
              </a:rPr>
              <a:t>Introduction</a:t>
            </a:r>
            <a:endParaRPr lang="en-US" sz="4000" b="1" dirty="0">
              <a:solidFill>
                <a:srgbClr val="006747"/>
              </a:solidFill>
            </a:endParaRPr>
          </a:p>
        </p:txBody>
      </p:sp>
      <p:sp>
        <p:nvSpPr>
          <p:cNvPr id="4" name="Text 1"/>
          <p:cNvSpPr/>
          <p:nvPr/>
        </p:nvSpPr>
        <p:spPr>
          <a:xfrm>
            <a:off x="6160919" y="2339231"/>
            <a:ext cx="7556421" cy="1904778"/>
          </a:xfrm>
          <a:prstGeom prst="rect">
            <a:avLst/>
          </a:prstGeom>
          <a:noFill/>
          <a:ln/>
        </p:spPr>
        <p:txBody>
          <a:bodyPr wrap="square" lIns="0" tIns="0" rIns="0" bIns="0" rtlCol="0" anchor="t"/>
          <a:lstStyle/>
          <a:p>
            <a:pPr marL="0" indent="0" algn="l">
              <a:lnSpc>
                <a:spcPts val="2500"/>
              </a:lnSpc>
              <a:buNone/>
            </a:pPr>
            <a:r>
              <a:rPr lang="en-US" sz="2400" dirty="0">
                <a:solidFill>
                  <a:srgbClr val="4B4A4A"/>
                </a:solidFill>
                <a:ea typeface="Geist" pitchFamily="34" charset="-122"/>
                <a:cs typeface="Geist" pitchFamily="34" charset="-120"/>
              </a:rPr>
              <a:t>This project focuses on analyzing the impact of armed conflict on civilian systems, with a specific emphasis on food system impacts and education in Gaza. The study adopts a Business Intelligence and data analysis approach to examine how political and conflict-related dynamics affect these critical sectors.</a:t>
            </a:r>
            <a:endParaRPr lang="en-US" sz="2400" dirty="0"/>
          </a:p>
        </p:txBody>
      </p:sp>
      <p:sp>
        <p:nvSpPr>
          <p:cNvPr id="5" name="Text 2"/>
          <p:cNvSpPr/>
          <p:nvPr/>
        </p:nvSpPr>
        <p:spPr>
          <a:xfrm>
            <a:off x="6160919" y="4587489"/>
            <a:ext cx="7556421" cy="1505198"/>
          </a:xfrm>
          <a:prstGeom prst="rect">
            <a:avLst/>
          </a:prstGeom>
          <a:noFill/>
          <a:ln/>
        </p:spPr>
        <p:txBody>
          <a:bodyPr wrap="square" lIns="0" tIns="0" rIns="0" bIns="0" rtlCol="0" anchor="t"/>
          <a:lstStyle/>
          <a:p>
            <a:pPr marL="0" indent="0" algn="l">
              <a:lnSpc>
                <a:spcPts val="2500"/>
              </a:lnSpc>
              <a:buNone/>
            </a:pPr>
            <a:r>
              <a:rPr lang="en-US" sz="2400" dirty="0">
                <a:solidFill>
                  <a:srgbClr val="4B4A4A"/>
                </a:solidFill>
                <a:ea typeface="Geist" pitchFamily="34" charset="-122"/>
                <a:cs typeface="Geist" pitchFamily="34" charset="-120"/>
              </a:rPr>
              <a:t>Based on this perspective, the project was designed using verified humanitarian data obtained from the Humanitarian Data Exchange (HDX), combined with supporting media data to strengthen contextual understanding.</a:t>
            </a:r>
            <a:endParaRPr lang="en-US" sz="2400" dirty="0"/>
          </a:p>
        </p:txBody>
      </p:sp>
      <p:sp>
        <p:nvSpPr>
          <p:cNvPr id="12" name="Shape 10"/>
          <p:cNvSpPr/>
          <p:nvPr/>
        </p:nvSpPr>
        <p:spPr>
          <a:xfrm>
            <a:off x="4552813" y="7687262"/>
            <a:ext cx="770930" cy="373142"/>
          </a:xfrm>
          <a:prstGeom prst="roundRect">
            <a:avLst>
              <a:gd name="adj" fmla="val 38297"/>
            </a:avLst>
          </a:prstGeom>
          <a:solidFill>
            <a:srgbClr val="CCFFEF"/>
          </a:solidFill>
          <a:ln/>
        </p:spPr>
        <p:txBody>
          <a:bodyPr/>
          <a:lstStyle/>
          <a:p>
            <a:endParaRPr lang="en-US"/>
          </a:p>
        </p:txBody>
      </p:sp>
      <p:sp>
        <p:nvSpPr>
          <p:cNvPr id="13" name="Text 11"/>
          <p:cNvSpPr/>
          <p:nvPr/>
        </p:nvSpPr>
        <p:spPr>
          <a:xfrm>
            <a:off x="4790878" y="7746793"/>
            <a:ext cx="294799" cy="254079"/>
          </a:xfrm>
          <a:prstGeom prst="rect">
            <a:avLst/>
          </a:prstGeom>
          <a:noFill/>
          <a:ln/>
        </p:spPr>
        <p:txBody>
          <a:bodyPr wrap="none" lIns="0" tIns="0" rIns="0" bIns="0" rtlCol="0" anchor="t"/>
          <a:lstStyle/>
          <a:p>
            <a:pPr marL="0" indent="0" algn="l">
              <a:lnSpc>
                <a:spcPts val="2000"/>
              </a:lnSpc>
              <a:buNone/>
            </a:pPr>
            <a:r>
              <a:rPr lang="en-US" sz="1250" b="1" dirty="0">
                <a:solidFill>
                  <a:srgbClr val="4B4A4A"/>
                </a:solidFill>
                <a:ea typeface="Geist" pitchFamily="34" charset="-122"/>
                <a:cs typeface="Geist" pitchFamily="34" charset="-120"/>
              </a:rPr>
              <a:t>K&amp;J</a:t>
            </a:r>
            <a:endParaRPr lang="en-US" sz="125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12042" y="1223694"/>
            <a:ext cx="8542973" cy="620078"/>
          </a:xfrm>
          <a:prstGeom prst="rect">
            <a:avLst/>
          </a:prstGeom>
          <a:noFill/>
          <a:ln/>
        </p:spPr>
        <p:txBody>
          <a:bodyPr wrap="none" lIns="0" tIns="0" rIns="0" bIns="0" rtlCol="0" anchor="t"/>
          <a:lstStyle/>
          <a:p>
            <a:pPr marL="0" indent="0" algn="ctr">
              <a:lnSpc>
                <a:spcPts val="4850"/>
              </a:lnSpc>
              <a:buNone/>
            </a:pPr>
            <a:r>
              <a:rPr lang="en-US" sz="4000" b="1" dirty="0">
                <a:solidFill>
                  <a:srgbClr val="006747"/>
                </a:solidFill>
                <a:ea typeface="Noto Serif SC Bold" pitchFamily="34" charset="-122"/>
                <a:cs typeface="Noto Serif SC Bold" pitchFamily="34" charset="-120"/>
              </a:rPr>
              <a:t>Data Processing and Visualization</a:t>
            </a:r>
            <a:endParaRPr lang="en-US" sz="4000" b="1" dirty="0"/>
          </a:p>
        </p:txBody>
      </p:sp>
      <p:sp>
        <p:nvSpPr>
          <p:cNvPr id="3" name="Text 1"/>
          <p:cNvSpPr/>
          <p:nvPr/>
        </p:nvSpPr>
        <p:spPr>
          <a:xfrm>
            <a:off x="793790" y="2308086"/>
            <a:ext cx="4007048" cy="310158"/>
          </a:xfrm>
          <a:prstGeom prst="rect">
            <a:avLst/>
          </a:prstGeom>
          <a:noFill/>
          <a:ln/>
        </p:spPr>
        <p:txBody>
          <a:bodyPr wrap="none" lIns="0" tIns="0" rIns="0" bIns="0" rtlCol="0" anchor="t"/>
          <a:lstStyle/>
          <a:p>
            <a:pPr marL="0" indent="0" algn="l">
              <a:lnSpc>
                <a:spcPts val="2400"/>
              </a:lnSpc>
              <a:buNone/>
            </a:pPr>
            <a:r>
              <a:rPr lang="en-US" sz="2000" b="1" dirty="0">
                <a:solidFill>
                  <a:srgbClr val="006747"/>
                </a:solidFill>
                <a:ea typeface="Noto Serif SC Bold" pitchFamily="34" charset="-122"/>
                <a:cs typeface="Noto Serif SC Bold" pitchFamily="34" charset="-120"/>
              </a:rPr>
              <a:t>Structured Analytical Workflow</a:t>
            </a:r>
            <a:endParaRPr lang="en-US" sz="2000" dirty="0"/>
          </a:p>
        </p:txBody>
      </p:sp>
      <p:sp>
        <p:nvSpPr>
          <p:cNvPr id="4" name="Text 2"/>
          <p:cNvSpPr/>
          <p:nvPr/>
        </p:nvSpPr>
        <p:spPr>
          <a:xfrm>
            <a:off x="793790" y="2862620"/>
            <a:ext cx="6279356" cy="63507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To achieve the project objectives, a structured analytical workflow was applied, including:</a:t>
            </a:r>
            <a:endParaRPr lang="en-US" sz="2000" dirty="0"/>
          </a:p>
        </p:txBody>
      </p:sp>
      <p:sp>
        <p:nvSpPr>
          <p:cNvPr id="5" name="Text 3"/>
          <p:cNvSpPr/>
          <p:nvPr/>
        </p:nvSpPr>
        <p:spPr>
          <a:xfrm>
            <a:off x="793790" y="367629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000" dirty="0">
                <a:solidFill>
                  <a:srgbClr val="4B4A4A"/>
                </a:solidFill>
                <a:ea typeface="Geist" pitchFamily="34" charset="-122"/>
                <a:cs typeface="Geist" pitchFamily="34" charset="-120"/>
              </a:rPr>
              <a:t>Data collection from verified humanitarian sources</a:t>
            </a:r>
            <a:endParaRPr lang="en-US" sz="2000" dirty="0"/>
          </a:p>
        </p:txBody>
      </p:sp>
      <p:sp>
        <p:nvSpPr>
          <p:cNvPr id="6" name="Text 4"/>
          <p:cNvSpPr/>
          <p:nvPr/>
        </p:nvSpPr>
        <p:spPr>
          <a:xfrm>
            <a:off x="793790" y="406324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000" dirty="0">
                <a:solidFill>
                  <a:srgbClr val="4B4A4A"/>
                </a:solidFill>
                <a:ea typeface="Geist" pitchFamily="34" charset="-122"/>
                <a:cs typeface="Geist" pitchFamily="34" charset="-120"/>
              </a:rPr>
              <a:t>Data cleaning to ensure accuracy and consistency</a:t>
            </a:r>
            <a:endParaRPr lang="en-US" sz="2000" dirty="0"/>
          </a:p>
        </p:txBody>
      </p:sp>
      <p:sp>
        <p:nvSpPr>
          <p:cNvPr id="7" name="Text 5"/>
          <p:cNvSpPr/>
          <p:nvPr/>
        </p:nvSpPr>
        <p:spPr>
          <a:xfrm>
            <a:off x="793790" y="4450199"/>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2000" dirty="0">
                <a:solidFill>
                  <a:srgbClr val="4B4A4A"/>
                </a:solidFill>
                <a:ea typeface="Geist" pitchFamily="34" charset="-122"/>
                <a:cs typeface="Geist" pitchFamily="34" charset="-120"/>
              </a:rPr>
              <a:t>Data transformation for analytical readiness</a:t>
            </a:r>
            <a:endParaRPr lang="en-US" sz="2000" dirty="0"/>
          </a:p>
        </p:txBody>
      </p:sp>
      <p:sp>
        <p:nvSpPr>
          <p:cNvPr id="8" name="Text 6"/>
          <p:cNvSpPr/>
          <p:nvPr/>
        </p:nvSpPr>
        <p:spPr>
          <a:xfrm>
            <a:off x="793790" y="4946333"/>
            <a:ext cx="6279356" cy="127015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Interactive data visualizations were developed to support exploratory</a:t>
            </a:r>
            <a:r>
              <a:rPr lang="en-US" sz="2000" b="1" dirty="0">
                <a:solidFill>
                  <a:srgbClr val="4B4A4A"/>
                </a:solidFill>
                <a:ea typeface="Geist" pitchFamily="34" charset="-122"/>
                <a:cs typeface="Geist" pitchFamily="34" charset="-120"/>
              </a:rPr>
              <a:t> </a:t>
            </a:r>
            <a:r>
              <a:rPr lang="en-US" sz="2000" dirty="0">
                <a:solidFill>
                  <a:srgbClr val="4B4A4A"/>
                </a:solidFill>
                <a:ea typeface="Geist" pitchFamily="34" charset="-122"/>
                <a:cs typeface="Geist" pitchFamily="34" charset="-120"/>
              </a:rPr>
              <a:t>data analysis and enhance analytical interpretation. These visualizations play a critical role in supporting decision-making and reinforcing the analytical value of the findings.</a:t>
            </a:r>
            <a:endParaRPr lang="en-US" sz="2000" dirty="0"/>
          </a:p>
        </p:txBody>
      </p:sp>
      <p:sp>
        <p:nvSpPr>
          <p:cNvPr id="9" name="Text 7"/>
          <p:cNvSpPr/>
          <p:nvPr/>
        </p:nvSpPr>
        <p:spPr>
          <a:xfrm>
            <a:off x="7564874" y="2308086"/>
            <a:ext cx="3971330" cy="310158"/>
          </a:xfrm>
          <a:prstGeom prst="rect">
            <a:avLst/>
          </a:prstGeom>
          <a:noFill/>
          <a:ln/>
        </p:spPr>
        <p:txBody>
          <a:bodyPr wrap="none" lIns="0" tIns="0" rIns="0" bIns="0" rtlCol="0" anchor="t"/>
          <a:lstStyle/>
          <a:p>
            <a:pPr marL="0" indent="0" algn="l">
              <a:lnSpc>
                <a:spcPts val="2400"/>
              </a:lnSpc>
              <a:buNone/>
            </a:pPr>
            <a:r>
              <a:rPr lang="en-US" sz="2000" b="1" dirty="0">
                <a:solidFill>
                  <a:srgbClr val="006747"/>
                </a:solidFill>
                <a:ea typeface="Noto Serif SC Bold" pitchFamily="34" charset="-122"/>
                <a:cs typeface="Noto Serif SC Bold" pitchFamily="34" charset="-120"/>
              </a:rPr>
              <a:t>Advanced Analytics Integration</a:t>
            </a:r>
            <a:endParaRPr lang="en-US" sz="2000" dirty="0"/>
          </a:p>
        </p:txBody>
      </p:sp>
      <p:sp>
        <p:nvSpPr>
          <p:cNvPr id="10" name="Text 8"/>
          <p:cNvSpPr/>
          <p:nvPr/>
        </p:nvSpPr>
        <p:spPr>
          <a:xfrm>
            <a:off x="7564874" y="2862620"/>
            <a:ext cx="6279356" cy="95261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Furthermore, Natural Language Processing (NLP) techniques—specifically machine learning-based methods—were applied to analyze media coverage related to food security.</a:t>
            </a:r>
            <a:endParaRPr lang="en-US" sz="2000" dirty="0"/>
          </a:p>
        </p:txBody>
      </p:sp>
      <p:sp>
        <p:nvSpPr>
          <p:cNvPr id="11" name="Text 9"/>
          <p:cNvSpPr/>
          <p:nvPr/>
        </p:nvSpPr>
        <p:spPr>
          <a:xfrm>
            <a:off x="7564874" y="4132659"/>
            <a:ext cx="6279356" cy="127015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This integration enabled the linkage between quantitative charts and media narratives, providing a more comprehensive and holistic analytical view that connects numerical patterns with real-world events and media reporting.</a:t>
            </a:r>
            <a:endParaRPr lang="en-US" sz="2000" dirty="0"/>
          </a:p>
        </p:txBody>
      </p:sp>
      <p:sp>
        <p:nvSpPr>
          <p:cNvPr id="12" name="Shape 10"/>
          <p:cNvSpPr/>
          <p:nvPr/>
        </p:nvSpPr>
        <p:spPr>
          <a:xfrm>
            <a:off x="408325" y="7627730"/>
            <a:ext cx="770930" cy="373142"/>
          </a:xfrm>
          <a:prstGeom prst="roundRect">
            <a:avLst>
              <a:gd name="adj" fmla="val 38297"/>
            </a:avLst>
          </a:prstGeom>
          <a:solidFill>
            <a:srgbClr val="CCFFEF"/>
          </a:solidFill>
          <a:ln/>
        </p:spPr>
        <p:txBody>
          <a:bodyPr/>
          <a:lstStyle/>
          <a:p>
            <a:endParaRPr lang="en-US"/>
          </a:p>
        </p:txBody>
      </p:sp>
      <p:sp>
        <p:nvSpPr>
          <p:cNvPr id="14" name="Text 11"/>
          <p:cNvSpPr/>
          <p:nvPr/>
        </p:nvSpPr>
        <p:spPr>
          <a:xfrm>
            <a:off x="646390" y="7687261"/>
            <a:ext cx="294799" cy="254079"/>
          </a:xfrm>
          <a:prstGeom prst="rect">
            <a:avLst/>
          </a:prstGeom>
          <a:noFill/>
          <a:ln/>
        </p:spPr>
        <p:txBody>
          <a:bodyPr wrap="non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K&amp;J</a:t>
            </a:r>
            <a:endParaRPr lang="en-US" sz="125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082825" y="611369"/>
            <a:ext cx="8289965" cy="545425"/>
          </a:xfrm>
          <a:prstGeom prst="rect">
            <a:avLst/>
          </a:prstGeom>
          <a:noFill/>
          <a:ln/>
        </p:spPr>
        <p:txBody>
          <a:bodyPr wrap="none" lIns="0" tIns="0" rIns="0" bIns="0" rtlCol="0" anchor="t"/>
          <a:lstStyle/>
          <a:p>
            <a:pPr marL="0" indent="0" algn="ctr">
              <a:lnSpc>
                <a:spcPts val="4250"/>
              </a:lnSpc>
              <a:buNone/>
            </a:pPr>
            <a:r>
              <a:rPr lang="en-US" sz="4000" b="1" dirty="0">
                <a:solidFill>
                  <a:srgbClr val="006747"/>
                </a:solidFill>
                <a:ea typeface="Noto Serif SC Bold" pitchFamily="34" charset="-122"/>
                <a:cs typeface="Noto Serif SC Bold" pitchFamily="34" charset="-120"/>
              </a:rPr>
              <a:t>Datasets, Tools, and Project Objective</a:t>
            </a:r>
            <a:endParaRPr lang="en-US" sz="4000" dirty="0"/>
          </a:p>
        </p:txBody>
      </p:sp>
      <p:sp>
        <p:nvSpPr>
          <p:cNvPr id="3" name="Shape 1"/>
          <p:cNvSpPr/>
          <p:nvPr/>
        </p:nvSpPr>
        <p:spPr>
          <a:xfrm>
            <a:off x="1006316" y="1509832"/>
            <a:ext cx="6221492" cy="2517338"/>
          </a:xfrm>
          <a:prstGeom prst="roundRect">
            <a:avLst>
              <a:gd name="adj" fmla="val 6241"/>
            </a:avLst>
          </a:prstGeom>
          <a:solidFill>
            <a:srgbClr val="E5F9F2">
              <a:alpha val="95000"/>
            </a:srgbClr>
          </a:solidFill>
          <a:ln w="22860">
            <a:solidFill>
              <a:srgbClr val="006747"/>
            </a:solidFill>
            <a:prstDash val="solid"/>
          </a:ln>
        </p:spPr>
        <p:txBody>
          <a:bodyPr/>
          <a:lstStyle/>
          <a:p>
            <a:endParaRPr lang="en-US"/>
          </a:p>
        </p:txBody>
      </p:sp>
      <p:sp>
        <p:nvSpPr>
          <p:cNvPr id="4" name="Shape 2"/>
          <p:cNvSpPr/>
          <p:nvPr/>
        </p:nvSpPr>
        <p:spPr>
          <a:xfrm>
            <a:off x="1029176" y="1532692"/>
            <a:ext cx="6175772" cy="523637"/>
          </a:xfrm>
          <a:prstGeom prst="roundRect">
            <a:avLst>
              <a:gd name="adj" fmla="val 24763"/>
            </a:avLst>
          </a:prstGeom>
          <a:solidFill>
            <a:srgbClr val="006747"/>
          </a:solidFill>
          <a:ln/>
        </p:spPr>
        <p:txBody>
          <a:bodyPr/>
          <a:lstStyle/>
          <a:p>
            <a:endParaRPr lang="en-US"/>
          </a:p>
        </p:txBody>
      </p:sp>
      <p:sp>
        <p:nvSpPr>
          <p:cNvPr id="5" name="Text 3"/>
          <p:cNvSpPr/>
          <p:nvPr/>
        </p:nvSpPr>
        <p:spPr>
          <a:xfrm>
            <a:off x="3986093" y="1627108"/>
            <a:ext cx="261818" cy="327184"/>
          </a:xfrm>
          <a:prstGeom prst="rect">
            <a:avLst/>
          </a:prstGeom>
          <a:noFill/>
          <a:ln/>
        </p:spPr>
        <p:txBody>
          <a:bodyPr wrap="none" lIns="0" tIns="0" rIns="0" bIns="0" rtlCol="0" anchor="t"/>
          <a:lstStyle/>
          <a:p>
            <a:pPr marL="0" indent="0" algn="l">
              <a:lnSpc>
                <a:spcPts val="2050"/>
              </a:lnSpc>
              <a:buNone/>
            </a:pPr>
            <a:r>
              <a:rPr lang="en-US" b="1" dirty="0">
                <a:solidFill>
                  <a:srgbClr val="FFFFFF"/>
                </a:solidFill>
                <a:ea typeface="Noto Serif SC Bold" pitchFamily="34" charset="-122"/>
                <a:cs typeface="Noto Serif SC Bold" pitchFamily="34" charset="-120"/>
              </a:rPr>
              <a:t>1</a:t>
            </a:r>
            <a:endParaRPr lang="en-US" dirty="0"/>
          </a:p>
        </p:txBody>
      </p:sp>
      <p:sp>
        <p:nvSpPr>
          <p:cNvPr id="6" name="Text 4"/>
          <p:cNvSpPr/>
          <p:nvPr/>
        </p:nvSpPr>
        <p:spPr>
          <a:xfrm>
            <a:off x="1203722" y="2230874"/>
            <a:ext cx="2181820" cy="272772"/>
          </a:xfrm>
          <a:prstGeom prst="rect">
            <a:avLst/>
          </a:prstGeom>
          <a:noFill/>
          <a:ln/>
        </p:spPr>
        <p:txBody>
          <a:bodyPr wrap="none" lIns="0" tIns="0" rIns="0" bIns="0" rtlCol="0" anchor="t"/>
          <a:lstStyle/>
          <a:p>
            <a:pPr marL="0" indent="0" algn="l">
              <a:lnSpc>
                <a:spcPts val="2100"/>
              </a:lnSpc>
              <a:buNone/>
            </a:pPr>
            <a:r>
              <a:rPr lang="en-US" b="1" dirty="0">
                <a:solidFill>
                  <a:srgbClr val="4B4A4A"/>
                </a:solidFill>
                <a:ea typeface="Noto Serif SC Bold" pitchFamily="34" charset="-122"/>
                <a:cs typeface="Noto Serif SC Bold" pitchFamily="34" charset="-120"/>
              </a:rPr>
              <a:t>Primary Datasets</a:t>
            </a:r>
            <a:endParaRPr lang="en-US" dirty="0"/>
          </a:p>
        </p:txBody>
      </p:sp>
      <p:sp>
        <p:nvSpPr>
          <p:cNvPr id="7" name="Text 5"/>
          <p:cNvSpPr/>
          <p:nvPr/>
        </p:nvSpPr>
        <p:spPr>
          <a:xfrm>
            <a:off x="1203722" y="2608302"/>
            <a:ext cx="5826681" cy="558403"/>
          </a:xfrm>
          <a:prstGeom prst="rect">
            <a:avLst/>
          </a:prstGeom>
          <a:noFill/>
          <a:ln/>
        </p:spPr>
        <p:txBody>
          <a:bodyPr wrap="square" lIns="0" tIns="0" rIns="0" bIns="0" rtlCol="0" anchor="t"/>
          <a:lstStyle/>
          <a:p>
            <a:pPr marL="0" indent="0" algn="l">
              <a:lnSpc>
                <a:spcPts val="2150"/>
              </a:lnSpc>
              <a:buNone/>
            </a:pPr>
            <a:r>
              <a:rPr lang="en-US" b="1" dirty="0">
                <a:solidFill>
                  <a:srgbClr val="4B4A4A"/>
                </a:solidFill>
                <a:ea typeface="Geist" pitchFamily="34" charset="-122"/>
                <a:cs typeface="Geist" pitchFamily="34" charset="-120"/>
              </a:rPr>
              <a:t>Incidents Affecting Food Systems (2023–2025):</a:t>
            </a:r>
            <a:r>
              <a:rPr lang="en-US" dirty="0">
                <a:solidFill>
                  <a:srgbClr val="4B4A4A"/>
                </a:solidFill>
                <a:ea typeface="Geist" pitchFamily="34" charset="-122"/>
                <a:cs typeface="Geist" pitchFamily="34" charset="-120"/>
              </a:rPr>
              <a:t> More than 1,000 records documenting attacks on food infrastructure</a:t>
            </a:r>
            <a:endParaRPr lang="en-US" dirty="0"/>
          </a:p>
        </p:txBody>
      </p:sp>
      <p:sp>
        <p:nvSpPr>
          <p:cNvPr id="8" name="Text 6"/>
          <p:cNvSpPr/>
          <p:nvPr/>
        </p:nvSpPr>
        <p:spPr>
          <a:xfrm>
            <a:off x="1203722" y="3271361"/>
            <a:ext cx="5826681" cy="558403"/>
          </a:xfrm>
          <a:prstGeom prst="rect">
            <a:avLst/>
          </a:prstGeom>
          <a:noFill/>
          <a:ln/>
        </p:spPr>
        <p:txBody>
          <a:bodyPr wrap="square" lIns="0" tIns="0" rIns="0" bIns="0" rtlCol="0" anchor="t"/>
          <a:lstStyle/>
          <a:p>
            <a:pPr marL="0" indent="0" algn="l">
              <a:lnSpc>
                <a:spcPts val="2150"/>
              </a:lnSpc>
              <a:buNone/>
            </a:pPr>
            <a:r>
              <a:rPr lang="en-US" b="1" dirty="0">
                <a:solidFill>
                  <a:srgbClr val="4B4A4A"/>
                </a:solidFill>
                <a:ea typeface="Geist" pitchFamily="34" charset="-122"/>
                <a:cs typeface="Geist" pitchFamily="34" charset="-120"/>
              </a:rPr>
              <a:t>Incidents Affecting Education (2020–2024):</a:t>
            </a:r>
            <a:r>
              <a:rPr lang="en-US" dirty="0">
                <a:solidFill>
                  <a:srgbClr val="4B4A4A"/>
                </a:solidFill>
                <a:ea typeface="Geist" pitchFamily="34" charset="-122"/>
                <a:cs typeface="Geist" pitchFamily="34" charset="-120"/>
              </a:rPr>
              <a:t> Approximately 300 records of education sector impacts</a:t>
            </a:r>
            <a:endParaRPr lang="en-US" dirty="0"/>
          </a:p>
        </p:txBody>
      </p:sp>
      <p:sp>
        <p:nvSpPr>
          <p:cNvPr id="9" name="Shape 7"/>
          <p:cNvSpPr/>
          <p:nvPr/>
        </p:nvSpPr>
        <p:spPr>
          <a:xfrm>
            <a:off x="7402354" y="1509832"/>
            <a:ext cx="6221611" cy="2517338"/>
          </a:xfrm>
          <a:prstGeom prst="roundRect">
            <a:avLst>
              <a:gd name="adj" fmla="val 6241"/>
            </a:avLst>
          </a:prstGeom>
          <a:solidFill>
            <a:srgbClr val="E5F9F2">
              <a:alpha val="95000"/>
            </a:srgbClr>
          </a:solidFill>
          <a:ln w="22860">
            <a:solidFill>
              <a:srgbClr val="006747"/>
            </a:solidFill>
            <a:prstDash val="solid"/>
          </a:ln>
        </p:spPr>
        <p:txBody>
          <a:bodyPr/>
          <a:lstStyle/>
          <a:p>
            <a:endParaRPr lang="en-US"/>
          </a:p>
        </p:txBody>
      </p:sp>
      <p:sp>
        <p:nvSpPr>
          <p:cNvPr id="10" name="Shape 8"/>
          <p:cNvSpPr/>
          <p:nvPr/>
        </p:nvSpPr>
        <p:spPr>
          <a:xfrm>
            <a:off x="7425214" y="1532692"/>
            <a:ext cx="6175891" cy="523637"/>
          </a:xfrm>
          <a:prstGeom prst="roundRect">
            <a:avLst>
              <a:gd name="adj" fmla="val 24763"/>
            </a:avLst>
          </a:prstGeom>
          <a:solidFill>
            <a:srgbClr val="006747"/>
          </a:solidFill>
          <a:ln/>
        </p:spPr>
        <p:txBody>
          <a:bodyPr/>
          <a:lstStyle/>
          <a:p>
            <a:endParaRPr lang="en-US"/>
          </a:p>
        </p:txBody>
      </p:sp>
      <p:sp>
        <p:nvSpPr>
          <p:cNvPr id="11" name="Text 9"/>
          <p:cNvSpPr/>
          <p:nvPr/>
        </p:nvSpPr>
        <p:spPr>
          <a:xfrm>
            <a:off x="10382250" y="1627108"/>
            <a:ext cx="261818" cy="327184"/>
          </a:xfrm>
          <a:prstGeom prst="rect">
            <a:avLst/>
          </a:prstGeom>
          <a:noFill/>
          <a:ln/>
        </p:spPr>
        <p:txBody>
          <a:bodyPr wrap="none" lIns="0" tIns="0" rIns="0" bIns="0" rtlCol="0" anchor="t"/>
          <a:lstStyle/>
          <a:p>
            <a:pPr marL="0" indent="0" algn="l">
              <a:lnSpc>
                <a:spcPts val="2050"/>
              </a:lnSpc>
              <a:buNone/>
            </a:pPr>
            <a:r>
              <a:rPr lang="en-US" b="1" dirty="0">
                <a:solidFill>
                  <a:srgbClr val="FFFFFF"/>
                </a:solidFill>
                <a:ea typeface="Noto Serif SC Bold" pitchFamily="34" charset="-122"/>
                <a:cs typeface="Noto Serif SC Bold" pitchFamily="34" charset="-120"/>
              </a:rPr>
              <a:t>2</a:t>
            </a:r>
            <a:endParaRPr lang="en-US" dirty="0"/>
          </a:p>
        </p:txBody>
      </p:sp>
      <p:sp>
        <p:nvSpPr>
          <p:cNvPr id="12" name="Text 10"/>
          <p:cNvSpPr/>
          <p:nvPr/>
        </p:nvSpPr>
        <p:spPr>
          <a:xfrm>
            <a:off x="7599759" y="2230874"/>
            <a:ext cx="2181820" cy="272772"/>
          </a:xfrm>
          <a:prstGeom prst="rect">
            <a:avLst/>
          </a:prstGeom>
          <a:noFill/>
          <a:ln/>
        </p:spPr>
        <p:txBody>
          <a:bodyPr wrap="none" lIns="0" tIns="0" rIns="0" bIns="0" rtlCol="0" anchor="t"/>
          <a:lstStyle/>
          <a:p>
            <a:pPr marL="0" indent="0" algn="l">
              <a:lnSpc>
                <a:spcPts val="2100"/>
              </a:lnSpc>
              <a:buNone/>
            </a:pPr>
            <a:r>
              <a:rPr lang="en-US" b="1" dirty="0">
                <a:solidFill>
                  <a:srgbClr val="4B4A4A"/>
                </a:solidFill>
                <a:ea typeface="Noto Serif SC Bold" pitchFamily="34" charset="-122"/>
                <a:cs typeface="Noto Serif SC Bold" pitchFamily="34" charset="-120"/>
              </a:rPr>
              <a:t>Analytical Tools</a:t>
            </a:r>
            <a:endParaRPr lang="en-US" dirty="0"/>
          </a:p>
        </p:txBody>
      </p:sp>
      <p:sp>
        <p:nvSpPr>
          <p:cNvPr id="13" name="Text 11"/>
          <p:cNvSpPr/>
          <p:nvPr/>
        </p:nvSpPr>
        <p:spPr>
          <a:xfrm>
            <a:off x="7599759" y="2608302"/>
            <a:ext cx="5826800" cy="837605"/>
          </a:xfrm>
          <a:prstGeom prst="rect">
            <a:avLst/>
          </a:prstGeom>
          <a:noFill/>
          <a:ln/>
        </p:spPr>
        <p:txBody>
          <a:bodyPr wrap="square" lIns="0" tIns="0" rIns="0" bIns="0" rtlCol="0" anchor="t"/>
          <a:lstStyle/>
          <a:p>
            <a:pPr marL="0" indent="0" algn="l">
              <a:lnSpc>
                <a:spcPts val="2150"/>
              </a:lnSpc>
              <a:buNone/>
            </a:pPr>
            <a:r>
              <a:rPr lang="en-US" dirty="0">
                <a:solidFill>
                  <a:srgbClr val="4B4A4A"/>
                </a:solidFill>
                <a:ea typeface="Geist" pitchFamily="34" charset="-122"/>
                <a:cs typeface="Geist" pitchFamily="34" charset="-120"/>
              </a:rPr>
              <a:t>Several analytical tools were utilized, including </a:t>
            </a:r>
            <a:r>
              <a:rPr lang="en-US" b="1" dirty="0">
                <a:solidFill>
                  <a:srgbClr val="4B4A4A"/>
                </a:solidFill>
                <a:ea typeface="Geist" pitchFamily="34" charset="-122"/>
                <a:cs typeface="Geist" pitchFamily="34" charset="-120"/>
              </a:rPr>
              <a:t>Excel</a:t>
            </a:r>
            <a:r>
              <a:rPr lang="en-US" dirty="0">
                <a:solidFill>
                  <a:srgbClr val="4B4A4A"/>
                </a:solidFill>
                <a:ea typeface="Geist" pitchFamily="34" charset="-122"/>
                <a:cs typeface="Geist" pitchFamily="34" charset="-120"/>
              </a:rPr>
              <a:t>, </a:t>
            </a:r>
            <a:r>
              <a:rPr lang="en-US" b="1" dirty="0">
                <a:solidFill>
                  <a:srgbClr val="4B4A4A"/>
                </a:solidFill>
                <a:ea typeface="Geist" pitchFamily="34" charset="-122"/>
                <a:cs typeface="Geist" pitchFamily="34" charset="-120"/>
              </a:rPr>
              <a:t>Power BI</a:t>
            </a:r>
            <a:r>
              <a:rPr lang="en-US" dirty="0">
                <a:solidFill>
                  <a:srgbClr val="4B4A4A"/>
                </a:solidFill>
                <a:ea typeface="Geist" pitchFamily="34" charset="-122"/>
                <a:cs typeface="Geist" pitchFamily="34" charset="-120"/>
              </a:rPr>
              <a:t>, and </a:t>
            </a:r>
            <a:r>
              <a:rPr lang="en-US" b="1" dirty="0">
                <a:solidFill>
                  <a:srgbClr val="4B4A4A"/>
                </a:solidFill>
                <a:ea typeface="Geist" pitchFamily="34" charset="-122"/>
                <a:cs typeface="Geist" pitchFamily="34" charset="-120"/>
              </a:rPr>
              <a:t>Python</a:t>
            </a:r>
            <a:r>
              <a:rPr lang="en-US" dirty="0">
                <a:solidFill>
                  <a:srgbClr val="4B4A4A"/>
                </a:solidFill>
                <a:ea typeface="Geist" pitchFamily="34" charset="-122"/>
                <a:cs typeface="Geist" pitchFamily="34" charset="-120"/>
              </a:rPr>
              <a:t>, to ensure accurate and effective implementation of the project across all analytical phases.</a:t>
            </a:r>
            <a:endParaRPr lang="en-US" dirty="0"/>
          </a:p>
        </p:txBody>
      </p:sp>
      <p:sp>
        <p:nvSpPr>
          <p:cNvPr id="14" name="Shape 12"/>
          <p:cNvSpPr/>
          <p:nvPr/>
        </p:nvSpPr>
        <p:spPr>
          <a:xfrm>
            <a:off x="1006316" y="4201716"/>
            <a:ext cx="6221492" cy="1854279"/>
          </a:xfrm>
          <a:prstGeom prst="roundRect">
            <a:avLst>
              <a:gd name="adj" fmla="val 8472"/>
            </a:avLst>
          </a:prstGeom>
          <a:solidFill>
            <a:srgbClr val="E5F9F2">
              <a:alpha val="95000"/>
            </a:srgbClr>
          </a:solidFill>
          <a:ln w="22860">
            <a:solidFill>
              <a:srgbClr val="006747"/>
            </a:solidFill>
            <a:prstDash val="solid"/>
          </a:ln>
        </p:spPr>
        <p:txBody>
          <a:bodyPr/>
          <a:lstStyle/>
          <a:p>
            <a:endParaRPr lang="en-US"/>
          </a:p>
        </p:txBody>
      </p:sp>
      <p:sp>
        <p:nvSpPr>
          <p:cNvPr id="15" name="Shape 13"/>
          <p:cNvSpPr/>
          <p:nvPr/>
        </p:nvSpPr>
        <p:spPr>
          <a:xfrm>
            <a:off x="1029176" y="4224576"/>
            <a:ext cx="6175772" cy="523637"/>
          </a:xfrm>
          <a:prstGeom prst="roundRect">
            <a:avLst>
              <a:gd name="adj" fmla="val 24763"/>
            </a:avLst>
          </a:prstGeom>
          <a:solidFill>
            <a:srgbClr val="006747"/>
          </a:solidFill>
          <a:ln/>
        </p:spPr>
        <p:txBody>
          <a:bodyPr/>
          <a:lstStyle/>
          <a:p>
            <a:endParaRPr lang="en-US"/>
          </a:p>
        </p:txBody>
      </p:sp>
      <p:sp>
        <p:nvSpPr>
          <p:cNvPr id="16" name="Text 14"/>
          <p:cNvSpPr/>
          <p:nvPr/>
        </p:nvSpPr>
        <p:spPr>
          <a:xfrm>
            <a:off x="3986093" y="4318992"/>
            <a:ext cx="261818" cy="327184"/>
          </a:xfrm>
          <a:prstGeom prst="rect">
            <a:avLst/>
          </a:prstGeom>
          <a:noFill/>
          <a:ln/>
        </p:spPr>
        <p:txBody>
          <a:bodyPr wrap="none" lIns="0" tIns="0" rIns="0" bIns="0" rtlCol="0" anchor="t"/>
          <a:lstStyle/>
          <a:p>
            <a:pPr marL="0" indent="0" algn="l">
              <a:lnSpc>
                <a:spcPts val="2050"/>
              </a:lnSpc>
              <a:buNone/>
            </a:pPr>
            <a:r>
              <a:rPr lang="en-US" b="1" dirty="0">
                <a:solidFill>
                  <a:srgbClr val="FFFFFF"/>
                </a:solidFill>
                <a:ea typeface="Noto Serif SC Bold" pitchFamily="34" charset="-122"/>
                <a:cs typeface="Noto Serif SC Bold" pitchFamily="34" charset="-120"/>
              </a:rPr>
              <a:t>3</a:t>
            </a:r>
            <a:endParaRPr lang="en-US" dirty="0"/>
          </a:p>
        </p:txBody>
      </p:sp>
      <p:sp>
        <p:nvSpPr>
          <p:cNvPr id="17" name="Text 15"/>
          <p:cNvSpPr/>
          <p:nvPr/>
        </p:nvSpPr>
        <p:spPr>
          <a:xfrm>
            <a:off x="1203722" y="4922758"/>
            <a:ext cx="2181820" cy="272772"/>
          </a:xfrm>
          <a:prstGeom prst="rect">
            <a:avLst/>
          </a:prstGeom>
          <a:noFill/>
          <a:ln/>
        </p:spPr>
        <p:txBody>
          <a:bodyPr wrap="none" lIns="0" tIns="0" rIns="0" bIns="0" rtlCol="0" anchor="t"/>
          <a:lstStyle/>
          <a:p>
            <a:pPr marL="0" indent="0" algn="l">
              <a:lnSpc>
                <a:spcPts val="2100"/>
              </a:lnSpc>
              <a:buNone/>
            </a:pPr>
            <a:r>
              <a:rPr lang="en-US" b="1" dirty="0">
                <a:solidFill>
                  <a:srgbClr val="4B4A4A"/>
                </a:solidFill>
                <a:ea typeface="Noto Serif SC Bold" pitchFamily="34" charset="-122"/>
                <a:cs typeface="Noto Serif SC Bold" pitchFamily="34" charset="-120"/>
              </a:rPr>
              <a:t>Core Challenge</a:t>
            </a:r>
            <a:endParaRPr lang="en-US" dirty="0"/>
          </a:p>
        </p:txBody>
      </p:sp>
      <p:sp>
        <p:nvSpPr>
          <p:cNvPr id="18" name="Text 16"/>
          <p:cNvSpPr/>
          <p:nvPr/>
        </p:nvSpPr>
        <p:spPr>
          <a:xfrm>
            <a:off x="1203661" y="5199321"/>
            <a:ext cx="5826681" cy="558403"/>
          </a:xfrm>
          <a:prstGeom prst="rect">
            <a:avLst/>
          </a:prstGeom>
          <a:noFill/>
          <a:ln/>
        </p:spPr>
        <p:txBody>
          <a:bodyPr wrap="square" lIns="0" tIns="0" rIns="0" bIns="0" rtlCol="0" anchor="t"/>
          <a:lstStyle/>
          <a:p>
            <a:pPr marL="0" indent="0" algn="l">
              <a:lnSpc>
                <a:spcPts val="2150"/>
              </a:lnSpc>
              <a:buNone/>
            </a:pPr>
            <a:r>
              <a:rPr lang="en-US" dirty="0">
                <a:solidFill>
                  <a:srgbClr val="4B4A4A"/>
                </a:solidFill>
                <a:ea typeface="Geist" pitchFamily="34" charset="-122"/>
                <a:cs typeface="Geist" pitchFamily="34" charset="-120"/>
              </a:rPr>
              <a:t>A large volume of humanitarian data related to Gaza exists primarily as raw records or textual reports, limiting actionable insights.</a:t>
            </a:r>
            <a:endParaRPr lang="en-US" dirty="0"/>
          </a:p>
        </p:txBody>
      </p:sp>
      <p:sp>
        <p:nvSpPr>
          <p:cNvPr id="19" name="Shape 17"/>
          <p:cNvSpPr/>
          <p:nvPr/>
        </p:nvSpPr>
        <p:spPr>
          <a:xfrm>
            <a:off x="7402354" y="4201716"/>
            <a:ext cx="6221611" cy="1854279"/>
          </a:xfrm>
          <a:prstGeom prst="roundRect">
            <a:avLst>
              <a:gd name="adj" fmla="val 8472"/>
            </a:avLst>
          </a:prstGeom>
          <a:solidFill>
            <a:srgbClr val="E5F9F2">
              <a:alpha val="95000"/>
            </a:srgbClr>
          </a:solidFill>
          <a:ln w="22860">
            <a:solidFill>
              <a:srgbClr val="006747"/>
            </a:solidFill>
            <a:prstDash val="solid"/>
          </a:ln>
        </p:spPr>
        <p:txBody>
          <a:bodyPr/>
          <a:lstStyle/>
          <a:p>
            <a:endParaRPr lang="en-US"/>
          </a:p>
        </p:txBody>
      </p:sp>
      <p:sp>
        <p:nvSpPr>
          <p:cNvPr id="20" name="Shape 18"/>
          <p:cNvSpPr/>
          <p:nvPr/>
        </p:nvSpPr>
        <p:spPr>
          <a:xfrm>
            <a:off x="7425214" y="4224576"/>
            <a:ext cx="6175891" cy="523637"/>
          </a:xfrm>
          <a:prstGeom prst="roundRect">
            <a:avLst>
              <a:gd name="adj" fmla="val 24763"/>
            </a:avLst>
          </a:prstGeom>
          <a:solidFill>
            <a:srgbClr val="006747"/>
          </a:solidFill>
          <a:ln/>
        </p:spPr>
        <p:txBody>
          <a:bodyPr/>
          <a:lstStyle/>
          <a:p>
            <a:endParaRPr lang="en-US"/>
          </a:p>
        </p:txBody>
      </p:sp>
      <p:sp>
        <p:nvSpPr>
          <p:cNvPr id="21" name="Text 19"/>
          <p:cNvSpPr/>
          <p:nvPr/>
        </p:nvSpPr>
        <p:spPr>
          <a:xfrm>
            <a:off x="10382250" y="4318992"/>
            <a:ext cx="261818" cy="327184"/>
          </a:xfrm>
          <a:prstGeom prst="rect">
            <a:avLst/>
          </a:prstGeom>
          <a:noFill/>
          <a:ln/>
        </p:spPr>
        <p:txBody>
          <a:bodyPr wrap="none" lIns="0" tIns="0" rIns="0" bIns="0" rtlCol="0" anchor="t"/>
          <a:lstStyle/>
          <a:p>
            <a:pPr marL="0" indent="0" algn="l">
              <a:lnSpc>
                <a:spcPts val="2050"/>
              </a:lnSpc>
              <a:buNone/>
            </a:pPr>
            <a:r>
              <a:rPr lang="en-US" b="1" dirty="0">
                <a:solidFill>
                  <a:srgbClr val="FFFFFF"/>
                </a:solidFill>
                <a:ea typeface="Noto Serif SC Bold" pitchFamily="34" charset="-122"/>
                <a:cs typeface="Noto Serif SC Bold" pitchFamily="34" charset="-120"/>
              </a:rPr>
              <a:t>4</a:t>
            </a:r>
            <a:endParaRPr lang="en-US" dirty="0"/>
          </a:p>
        </p:txBody>
      </p:sp>
      <p:sp>
        <p:nvSpPr>
          <p:cNvPr id="22" name="Text 20"/>
          <p:cNvSpPr/>
          <p:nvPr/>
        </p:nvSpPr>
        <p:spPr>
          <a:xfrm>
            <a:off x="7599759" y="4922758"/>
            <a:ext cx="2181820" cy="272772"/>
          </a:xfrm>
          <a:prstGeom prst="rect">
            <a:avLst/>
          </a:prstGeom>
          <a:noFill/>
          <a:ln/>
        </p:spPr>
        <p:txBody>
          <a:bodyPr wrap="none" lIns="0" tIns="0" rIns="0" bIns="0" rtlCol="0" anchor="t"/>
          <a:lstStyle/>
          <a:p>
            <a:pPr marL="0" indent="0" algn="l">
              <a:lnSpc>
                <a:spcPts val="2100"/>
              </a:lnSpc>
              <a:buNone/>
            </a:pPr>
            <a:r>
              <a:rPr lang="en-US" b="1" dirty="0">
                <a:solidFill>
                  <a:srgbClr val="4B4A4A"/>
                </a:solidFill>
                <a:ea typeface="Noto Serif SC Bold" pitchFamily="34" charset="-122"/>
                <a:cs typeface="Noto Serif SC Bold" pitchFamily="34" charset="-120"/>
              </a:rPr>
              <a:t>Project Goal</a:t>
            </a:r>
            <a:endParaRPr lang="en-US" dirty="0"/>
          </a:p>
        </p:txBody>
      </p:sp>
      <p:sp>
        <p:nvSpPr>
          <p:cNvPr id="23" name="Text 21"/>
          <p:cNvSpPr/>
          <p:nvPr/>
        </p:nvSpPr>
        <p:spPr>
          <a:xfrm>
            <a:off x="7599759" y="5300186"/>
            <a:ext cx="5826800" cy="558403"/>
          </a:xfrm>
          <a:prstGeom prst="rect">
            <a:avLst/>
          </a:prstGeom>
          <a:noFill/>
          <a:ln/>
        </p:spPr>
        <p:txBody>
          <a:bodyPr wrap="square" lIns="0" tIns="0" rIns="0" bIns="0" rtlCol="0" anchor="t"/>
          <a:lstStyle/>
          <a:p>
            <a:pPr marL="0" indent="0" algn="l">
              <a:lnSpc>
                <a:spcPts val="2150"/>
              </a:lnSpc>
              <a:buNone/>
            </a:pPr>
            <a:r>
              <a:rPr lang="en-US" dirty="0">
                <a:solidFill>
                  <a:srgbClr val="4B4A4A"/>
                </a:solidFill>
                <a:ea typeface="Geist" pitchFamily="34" charset="-122"/>
                <a:cs typeface="Geist" pitchFamily="34" charset="-120"/>
              </a:rPr>
              <a:t>Transform data from records into insights by answering: </a:t>
            </a:r>
            <a:r>
              <a:rPr lang="en-US" i="1" dirty="0">
                <a:solidFill>
                  <a:srgbClr val="4B4A4A"/>
                </a:solidFill>
                <a:ea typeface="Geist" pitchFamily="34" charset="-122"/>
                <a:cs typeface="Geist" pitchFamily="34" charset="-120"/>
              </a:rPr>
              <a:t>What is happening? When is it happening? Where is it happening?</a:t>
            </a:r>
            <a:endParaRPr lang="en-US" dirty="0"/>
          </a:p>
        </p:txBody>
      </p:sp>
      <p:sp>
        <p:nvSpPr>
          <p:cNvPr id="24" name="Text 22"/>
          <p:cNvSpPr/>
          <p:nvPr/>
        </p:nvSpPr>
        <p:spPr>
          <a:xfrm>
            <a:off x="1006316" y="6252329"/>
            <a:ext cx="12617648" cy="837605"/>
          </a:xfrm>
          <a:prstGeom prst="rect">
            <a:avLst/>
          </a:prstGeom>
          <a:noFill/>
          <a:ln/>
        </p:spPr>
        <p:txBody>
          <a:bodyPr wrap="square" lIns="0" tIns="0" rIns="0" bIns="0" rtlCol="0" anchor="t"/>
          <a:lstStyle/>
          <a:p>
            <a:pPr marL="0" indent="0" algn="l">
              <a:lnSpc>
                <a:spcPts val="2150"/>
              </a:lnSpc>
              <a:buNone/>
            </a:pPr>
            <a:r>
              <a:rPr lang="en-US" dirty="0">
                <a:solidFill>
                  <a:srgbClr val="4B4A4A"/>
                </a:solidFill>
                <a:ea typeface="Geist" pitchFamily="34" charset="-122"/>
                <a:cs typeface="Geist" pitchFamily="34" charset="-120"/>
              </a:rPr>
              <a:t>Using Power BI, the analysis answers fundamental questions about conflict patterns. To further enhance the analysis, Python and NLP were incorporated to connect numerical patterns with media coverage and real-world events. As a result, the project evolved from standalone dashboards into an integrated analytical framework.</a:t>
            </a:r>
            <a:endParaRPr lang="en-US" dirty="0"/>
          </a:p>
        </p:txBody>
      </p:sp>
      <p:sp>
        <p:nvSpPr>
          <p:cNvPr id="25" name="Shape 23"/>
          <p:cNvSpPr/>
          <p:nvPr/>
        </p:nvSpPr>
        <p:spPr>
          <a:xfrm>
            <a:off x="205265" y="7756513"/>
            <a:ext cx="677823" cy="327898"/>
          </a:xfrm>
          <a:prstGeom prst="roundRect">
            <a:avLst>
              <a:gd name="adj" fmla="val 38329"/>
            </a:avLst>
          </a:prstGeom>
          <a:solidFill>
            <a:srgbClr val="CCFFEF"/>
          </a:solidFill>
          <a:ln/>
        </p:spPr>
        <p:txBody>
          <a:bodyPr/>
          <a:lstStyle/>
          <a:p>
            <a:endParaRPr lang="en-US"/>
          </a:p>
        </p:txBody>
      </p:sp>
      <p:sp>
        <p:nvSpPr>
          <p:cNvPr id="27" name="Text 24"/>
          <p:cNvSpPr/>
          <p:nvPr/>
        </p:nvSpPr>
        <p:spPr>
          <a:xfrm>
            <a:off x="519233" y="7808781"/>
            <a:ext cx="259199" cy="223361"/>
          </a:xfrm>
          <a:prstGeom prst="rect">
            <a:avLst/>
          </a:prstGeom>
          <a:noFill/>
          <a:ln/>
        </p:spPr>
        <p:txBody>
          <a:bodyPr wrap="none" lIns="0" tIns="0" rIns="0" bIns="0" rtlCol="0" anchor="t"/>
          <a:lstStyle/>
          <a:p>
            <a:pPr marL="0" indent="0" algn="l">
              <a:lnSpc>
                <a:spcPts val="1750"/>
              </a:lnSpc>
              <a:buNone/>
            </a:pPr>
            <a:r>
              <a:rPr lang="en-US" b="1" dirty="0">
                <a:solidFill>
                  <a:srgbClr val="4B4A4A"/>
                </a:solidFill>
                <a:ea typeface="Geist" pitchFamily="34" charset="-122"/>
                <a:cs typeface="Geist" pitchFamily="34" charset="-120"/>
              </a:rPr>
              <a:t>K&amp;J</a:t>
            </a:r>
            <a:endParaRPr 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7553" y="2565070"/>
            <a:ext cx="10865922" cy="2123658"/>
          </a:xfrm>
          <a:prstGeom prst="rect">
            <a:avLst/>
          </a:prstGeom>
          <a:noFill/>
        </p:spPr>
        <p:txBody>
          <a:bodyPr wrap="square" lIns="91440" tIns="45720" rIns="91440" bIns="45720">
            <a:spAutoFit/>
          </a:bodyPr>
          <a:lstStyle/>
          <a:p>
            <a:pPr algn="ctr"/>
            <a:r>
              <a:rPr lang="en-GB" sz="6600" b="1" dirty="0">
                <a:ln w="0"/>
                <a:solidFill>
                  <a:srgbClr val="006747"/>
                </a:solidFill>
              </a:rPr>
              <a:t>Dashboard</a:t>
            </a:r>
          </a:p>
          <a:p>
            <a:pPr algn="ctr"/>
            <a:r>
              <a:rPr lang="en-GB" sz="6600" b="1" cap="none" spc="0" dirty="0">
                <a:ln w="0"/>
                <a:solidFill>
                  <a:srgbClr val="006747"/>
                </a:solidFill>
              </a:rPr>
              <a:t>Food Systems</a:t>
            </a:r>
            <a:endParaRPr lang="en-US" sz="6600" b="1" cap="none" spc="0" dirty="0">
              <a:ln w="0"/>
              <a:solidFill>
                <a:srgbClr val="006747"/>
              </a:solidFill>
            </a:endParaRPr>
          </a:p>
        </p:txBody>
      </p:sp>
    </p:spTree>
    <p:extLst>
      <p:ext uri="{BB962C8B-B14F-4D97-AF65-F5344CB8AC3E}">
        <p14:creationId xmlns:p14="http://schemas.microsoft.com/office/powerpoint/2010/main" val="929444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89" y="219417"/>
            <a:ext cx="12361033" cy="620078"/>
          </a:xfrm>
          <a:prstGeom prst="rect">
            <a:avLst/>
          </a:prstGeom>
          <a:noFill/>
          <a:ln/>
        </p:spPr>
        <p:txBody>
          <a:bodyPr wrap="none" lIns="0" tIns="0" rIns="0" bIns="0" rtlCol="0" anchor="t"/>
          <a:lstStyle/>
          <a:p>
            <a:pPr marL="0" indent="0" algn="ctr">
              <a:lnSpc>
                <a:spcPts val="4850"/>
              </a:lnSpc>
              <a:buNone/>
            </a:pPr>
            <a:r>
              <a:rPr lang="en-US" sz="4000" b="1" dirty="0">
                <a:solidFill>
                  <a:srgbClr val="006747"/>
                </a:solidFill>
                <a:ea typeface="Noto Serif SC Bold" pitchFamily="34" charset="-122"/>
                <a:cs typeface="Noto Serif SC Bold" pitchFamily="34" charset="-120"/>
              </a:rPr>
              <a:t>Dashboard Design and Data Preparation</a:t>
            </a:r>
            <a:endParaRPr lang="en-US" sz="4000" dirty="0"/>
          </a:p>
        </p:txBody>
      </p:sp>
      <p:sp>
        <p:nvSpPr>
          <p:cNvPr id="3" name="Text 1"/>
          <p:cNvSpPr/>
          <p:nvPr/>
        </p:nvSpPr>
        <p:spPr>
          <a:xfrm>
            <a:off x="437198" y="4496936"/>
            <a:ext cx="2480905" cy="310158"/>
          </a:xfrm>
          <a:prstGeom prst="rect">
            <a:avLst/>
          </a:prstGeom>
          <a:noFill/>
          <a:ln/>
        </p:spPr>
        <p:txBody>
          <a:bodyPr wrap="none" lIns="0" tIns="0" rIns="0" bIns="0" rtlCol="0" anchor="t"/>
          <a:lstStyle/>
          <a:p>
            <a:pPr marL="0" indent="0" algn="l">
              <a:lnSpc>
                <a:spcPts val="2400"/>
              </a:lnSpc>
              <a:buNone/>
            </a:pPr>
            <a:endParaRPr lang="en-US" sz="2000" dirty="0"/>
          </a:p>
        </p:txBody>
      </p:sp>
      <p:sp>
        <p:nvSpPr>
          <p:cNvPr id="4" name="Text 2"/>
          <p:cNvSpPr/>
          <p:nvPr/>
        </p:nvSpPr>
        <p:spPr>
          <a:xfrm>
            <a:off x="363862" y="5076085"/>
            <a:ext cx="7632025" cy="1587698"/>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This dashboard was designed and formatted using a color scheme inspired by the Palestinian flag. The purpose of this design choice was to ensure that the dashboard is visually comfortable while also reflecting the humanitarian context of the events being analyzed, allowing the viewer to remain connected to the subject matter while interpreting the data.</a:t>
            </a:r>
            <a:endParaRPr lang="en-US" sz="2000" dirty="0"/>
          </a:p>
        </p:txBody>
      </p:sp>
      <p:sp>
        <p:nvSpPr>
          <p:cNvPr id="5" name="Text 3"/>
          <p:cNvSpPr/>
          <p:nvPr/>
        </p:nvSpPr>
        <p:spPr>
          <a:xfrm>
            <a:off x="357441" y="6744175"/>
            <a:ext cx="7632025" cy="95261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Prior to visualization, the data was cleaned and prepared using Power Query, ensuring that all fields were properly formatted, consistent, and suitable for accurate analytical representation.</a:t>
            </a:r>
            <a:endParaRPr lang="en-US" sz="2000" dirty="0"/>
          </a:p>
        </p:txBody>
      </p:sp>
      <p:sp>
        <p:nvSpPr>
          <p:cNvPr id="6" name="Text 4"/>
          <p:cNvSpPr/>
          <p:nvPr/>
        </p:nvSpPr>
        <p:spPr>
          <a:xfrm>
            <a:off x="9006800" y="4755000"/>
            <a:ext cx="2480905" cy="310158"/>
          </a:xfrm>
          <a:prstGeom prst="rect">
            <a:avLst/>
          </a:prstGeom>
          <a:noFill/>
          <a:ln/>
        </p:spPr>
        <p:txBody>
          <a:bodyPr wrap="none" lIns="0" tIns="0" rIns="0" bIns="0" rtlCol="0" anchor="t"/>
          <a:lstStyle/>
          <a:p>
            <a:pPr marL="0" indent="0" algn="l">
              <a:lnSpc>
                <a:spcPts val="2400"/>
              </a:lnSpc>
              <a:buNone/>
            </a:pPr>
            <a:endParaRPr lang="en-US" sz="2000" dirty="0"/>
          </a:p>
        </p:txBody>
      </p:sp>
      <p:sp>
        <p:nvSpPr>
          <p:cNvPr id="7" name="Text 5"/>
          <p:cNvSpPr/>
          <p:nvPr/>
        </p:nvSpPr>
        <p:spPr>
          <a:xfrm>
            <a:off x="8931286" y="5040127"/>
            <a:ext cx="4926568" cy="127015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The selected chart types were chosen deliberately, as they best support the intended analytical objectives and allow the data to be represented in a clear and meaningful manner.</a:t>
            </a:r>
            <a:endParaRPr lang="en-US" sz="2000" dirty="0"/>
          </a:p>
        </p:txBody>
      </p:sp>
      <p:sp>
        <p:nvSpPr>
          <p:cNvPr id="8" name="Text 6"/>
          <p:cNvSpPr/>
          <p:nvPr/>
        </p:nvSpPr>
        <p:spPr>
          <a:xfrm>
            <a:off x="8931286" y="6426635"/>
            <a:ext cx="4926568" cy="127015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The analysis begins with </a:t>
            </a:r>
            <a:r>
              <a:rPr lang="en-US" sz="2000" b="1" dirty="0">
                <a:solidFill>
                  <a:srgbClr val="4B4A4A"/>
                </a:solidFill>
                <a:ea typeface="Geist" pitchFamily="34" charset="-122"/>
                <a:cs typeface="Geist" pitchFamily="34" charset="-120"/>
              </a:rPr>
              <a:t>KPI Cards</a:t>
            </a:r>
            <a:r>
              <a:rPr lang="en-US" sz="2000" dirty="0">
                <a:solidFill>
                  <a:srgbClr val="4B4A4A"/>
                </a:solidFill>
                <a:ea typeface="Geist" pitchFamily="34" charset="-122"/>
                <a:cs typeface="Geist" pitchFamily="34" charset="-120"/>
              </a:rPr>
              <a:t>, which were used to highlight the most important variables and key columns within the dataset, providing an immediate overview of critical information.</a:t>
            </a:r>
            <a:endParaRPr lang="en-US" sz="2000" dirty="0"/>
          </a:p>
        </p:txBody>
      </p:sp>
      <p:sp>
        <p:nvSpPr>
          <p:cNvPr id="9" name="Shape 7"/>
          <p:cNvSpPr/>
          <p:nvPr/>
        </p:nvSpPr>
        <p:spPr>
          <a:xfrm>
            <a:off x="408325" y="7770012"/>
            <a:ext cx="770930" cy="373142"/>
          </a:xfrm>
          <a:prstGeom prst="roundRect">
            <a:avLst>
              <a:gd name="adj" fmla="val 38297"/>
            </a:avLst>
          </a:prstGeom>
          <a:solidFill>
            <a:srgbClr val="CCFFEF"/>
          </a:solidFill>
          <a:ln/>
        </p:spPr>
        <p:txBody>
          <a:bodyPr/>
          <a:lstStyle/>
          <a:p>
            <a:endParaRPr lang="en-US"/>
          </a:p>
        </p:txBody>
      </p:sp>
      <p:sp>
        <p:nvSpPr>
          <p:cNvPr id="11" name="Text 8"/>
          <p:cNvSpPr/>
          <p:nvPr/>
        </p:nvSpPr>
        <p:spPr>
          <a:xfrm>
            <a:off x="646390" y="7829544"/>
            <a:ext cx="294799" cy="254079"/>
          </a:xfrm>
          <a:prstGeom prst="rect">
            <a:avLst/>
          </a:prstGeom>
          <a:noFill/>
          <a:ln/>
        </p:spPr>
        <p:txBody>
          <a:bodyPr wrap="none" lIns="0" tIns="0" rIns="0" bIns="0" rtlCol="0" anchor="t"/>
          <a:lstStyle/>
          <a:p>
            <a:pPr marL="0" indent="0" algn="l">
              <a:lnSpc>
                <a:spcPts val="2000"/>
              </a:lnSpc>
              <a:buNone/>
            </a:pPr>
            <a:r>
              <a:rPr lang="en-US" sz="2000" b="1" dirty="0">
                <a:solidFill>
                  <a:srgbClr val="4B4A4A"/>
                </a:solidFill>
                <a:ea typeface="Geist" pitchFamily="34" charset="-122"/>
                <a:cs typeface="Geist" pitchFamily="34" charset="-120"/>
              </a:rPr>
              <a:t>K&amp;J</a:t>
            </a:r>
            <a:endParaRPr lang="en-US" sz="2000" b="1" dirty="0"/>
          </a:p>
        </p:txBody>
      </p:sp>
      <p:pic>
        <p:nvPicPr>
          <p:cNvPr id="12" name="drawing"/>
          <p:cNvPicPr/>
          <p:nvPr/>
        </p:nvPicPr>
        <p:blipFill>
          <a:blip r:embed="rId3">
            <a:extLst>
              <a:ext uri="{28A0092B-C50C-407E-A947-70E740481C1C}">
                <a14:useLocalDpi xmlns:a14="http://schemas.microsoft.com/office/drawing/2010/main"/>
              </a:ext>
            </a:extLst>
          </a:blip>
          <a:stretch>
            <a:fillRect/>
          </a:stretch>
        </p:blipFill>
        <p:spPr>
          <a:xfrm>
            <a:off x="1513289" y="1016422"/>
            <a:ext cx="11157683" cy="37933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034242" y="635440"/>
            <a:ext cx="10319623" cy="648330"/>
          </a:xfrm>
          <a:prstGeom prst="rect">
            <a:avLst/>
          </a:prstGeom>
          <a:noFill/>
          <a:ln/>
        </p:spPr>
        <p:txBody>
          <a:bodyPr wrap="none" lIns="0" tIns="0" rIns="0" bIns="0" rtlCol="0" anchor="t"/>
          <a:lstStyle/>
          <a:p>
            <a:pPr marL="0" indent="0" algn="ctr">
              <a:lnSpc>
                <a:spcPts val="4850"/>
              </a:lnSpc>
              <a:buNone/>
            </a:pPr>
            <a:r>
              <a:rPr lang="en-US" sz="4000" b="1" dirty="0">
                <a:solidFill>
                  <a:srgbClr val="006747"/>
                </a:solidFill>
                <a:ea typeface="Noto Serif SC Bold" pitchFamily="34" charset="-122"/>
                <a:cs typeface="Noto Serif SC Bold" pitchFamily="34" charset="-120"/>
              </a:rPr>
              <a:t>Interactive Filtering and Impact Analysis</a:t>
            </a:r>
            <a:endParaRPr lang="en-US" sz="4000" dirty="0"/>
          </a:p>
        </p:txBody>
      </p:sp>
      <p:sp>
        <p:nvSpPr>
          <p:cNvPr id="3" name="Text 1"/>
          <p:cNvSpPr/>
          <p:nvPr/>
        </p:nvSpPr>
        <p:spPr>
          <a:xfrm>
            <a:off x="793790" y="1795473"/>
            <a:ext cx="198358" cy="259307"/>
          </a:xfrm>
          <a:prstGeom prst="rect">
            <a:avLst/>
          </a:prstGeom>
          <a:noFill/>
          <a:ln/>
        </p:spPr>
        <p:txBody>
          <a:bodyPr wrap="none" lIns="0" tIns="0" rIns="0" bIns="0" rtlCol="0" anchor="t"/>
          <a:lstStyle/>
          <a:p>
            <a:pPr marL="0" indent="0" algn="l">
              <a:lnSpc>
                <a:spcPts val="2500"/>
              </a:lnSpc>
              <a:buNone/>
            </a:pPr>
            <a:r>
              <a:rPr lang="en-US" sz="2000" dirty="0">
                <a:solidFill>
                  <a:srgbClr val="4B4A4A"/>
                </a:solidFill>
                <a:ea typeface="Noto Serif SC Light" pitchFamily="34" charset="-122"/>
                <a:cs typeface="Noto Serif SC Light" pitchFamily="34" charset="-120"/>
              </a:rPr>
              <a:t>01</a:t>
            </a:r>
            <a:endParaRPr lang="en-US" sz="2000" dirty="0"/>
          </a:p>
        </p:txBody>
      </p:sp>
      <p:sp>
        <p:nvSpPr>
          <p:cNvPr id="4" name="Shape 2"/>
          <p:cNvSpPr/>
          <p:nvPr/>
        </p:nvSpPr>
        <p:spPr>
          <a:xfrm>
            <a:off x="793790" y="2098239"/>
            <a:ext cx="6422231" cy="45719"/>
          </a:xfrm>
          <a:prstGeom prst="rect">
            <a:avLst/>
          </a:prstGeom>
          <a:solidFill>
            <a:srgbClr val="335E23"/>
          </a:solidFill>
          <a:ln/>
        </p:spPr>
        <p:txBody>
          <a:bodyPr/>
          <a:lstStyle/>
          <a:p>
            <a:endParaRPr lang="en-US"/>
          </a:p>
        </p:txBody>
      </p:sp>
      <p:sp>
        <p:nvSpPr>
          <p:cNvPr id="5" name="Text 3"/>
          <p:cNvSpPr/>
          <p:nvPr/>
        </p:nvSpPr>
        <p:spPr>
          <a:xfrm>
            <a:off x="793790" y="2251866"/>
            <a:ext cx="2480905" cy="324289"/>
          </a:xfrm>
          <a:prstGeom prst="rect">
            <a:avLst/>
          </a:prstGeom>
          <a:noFill/>
          <a:ln/>
        </p:spPr>
        <p:txBody>
          <a:bodyPr wrap="none" lIns="0" tIns="0" rIns="0" bIns="0" rtlCol="0" anchor="t"/>
          <a:lstStyle/>
          <a:p>
            <a:pPr marL="0" indent="0" algn="l">
              <a:lnSpc>
                <a:spcPts val="2400"/>
              </a:lnSpc>
              <a:buNone/>
            </a:pPr>
            <a:r>
              <a:rPr lang="en-US" sz="2000" b="1" dirty="0">
                <a:solidFill>
                  <a:srgbClr val="4B4A4A"/>
                </a:solidFill>
                <a:ea typeface="Noto Serif SC Bold" pitchFamily="34" charset="-122"/>
                <a:cs typeface="Noto Serif SC Bold" pitchFamily="34" charset="-120"/>
              </a:rPr>
              <a:t>Interactive Slicers</a:t>
            </a:r>
            <a:endParaRPr lang="en-US" sz="2000" dirty="0"/>
          </a:p>
        </p:txBody>
      </p:sp>
      <p:sp>
        <p:nvSpPr>
          <p:cNvPr id="6" name="Text 4"/>
          <p:cNvSpPr/>
          <p:nvPr/>
        </p:nvSpPr>
        <p:spPr>
          <a:xfrm>
            <a:off x="793790" y="2651816"/>
            <a:ext cx="6422231" cy="996022"/>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Two slicers were implemented: the first allows filtering by year with dropdown for months; the second enables filtering by specific dates or custom date ranges for focused analysis.</a:t>
            </a:r>
            <a:endParaRPr lang="en-US" sz="2000" dirty="0"/>
          </a:p>
        </p:txBody>
      </p:sp>
      <p:sp>
        <p:nvSpPr>
          <p:cNvPr id="7" name="Text 5"/>
          <p:cNvSpPr/>
          <p:nvPr/>
        </p:nvSpPr>
        <p:spPr>
          <a:xfrm>
            <a:off x="7414379" y="1795473"/>
            <a:ext cx="198358" cy="259307"/>
          </a:xfrm>
          <a:prstGeom prst="rect">
            <a:avLst/>
          </a:prstGeom>
          <a:noFill/>
          <a:ln/>
        </p:spPr>
        <p:txBody>
          <a:bodyPr wrap="none" lIns="0" tIns="0" rIns="0" bIns="0" rtlCol="0" anchor="t"/>
          <a:lstStyle/>
          <a:p>
            <a:pPr marL="0" indent="0" algn="l">
              <a:lnSpc>
                <a:spcPts val="2500"/>
              </a:lnSpc>
              <a:buNone/>
            </a:pPr>
            <a:r>
              <a:rPr lang="en-US" sz="2000" dirty="0">
                <a:solidFill>
                  <a:srgbClr val="4B4A4A"/>
                </a:solidFill>
                <a:ea typeface="Noto Serif SC Light" pitchFamily="34" charset="-122"/>
                <a:cs typeface="Noto Serif SC Light" pitchFamily="34" charset="-120"/>
              </a:rPr>
              <a:t>02</a:t>
            </a:r>
            <a:endParaRPr lang="en-US" sz="2000" dirty="0"/>
          </a:p>
        </p:txBody>
      </p:sp>
      <p:sp>
        <p:nvSpPr>
          <p:cNvPr id="8" name="Shape 6"/>
          <p:cNvSpPr/>
          <p:nvPr/>
        </p:nvSpPr>
        <p:spPr>
          <a:xfrm>
            <a:off x="7414379" y="2098239"/>
            <a:ext cx="6422231" cy="45719"/>
          </a:xfrm>
          <a:prstGeom prst="rect">
            <a:avLst/>
          </a:prstGeom>
          <a:solidFill>
            <a:srgbClr val="335E23"/>
          </a:solidFill>
          <a:ln/>
        </p:spPr>
        <p:txBody>
          <a:bodyPr/>
          <a:lstStyle/>
          <a:p>
            <a:endParaRPr lang="en-US"/>
          </a:p>
        </p:txBody>
      </p:sp>
      <p:sp>
        <p:nvSpPr>
          <p:cNvPr id="9" name="Text 7"/>
          <p:cNvSpPr/>
          <p:nvPr/>
        </p:nvSpPr>
        <p:spPr>
          <a:xfrm>
            <a:off x="7414379" y="2251866"/>
            <a:ext cx="4043243" cy="324289"/>
          </a:xfrm>
          <a:prstGeom prst="rect">
            <a:avLst/>
          </a:prstGeom>
          <a:noFill/>
          <a:ln/>
        </p:spPr>
        <p:txBody>
          <a:bodyPr wrap="none" lIns="0" tIns="0" rIns="0" bIns="0" rtlCol="0" anchor="t"/>
          <a:lstStyle/>
          <a:p>
            <a:pPr marL="0" indent="0" algn="l">
              <a:lnSpc>
                <a:spcPts val="2400"/>
              </a:lnSpc>
              <a:buNone/>
            </a:pPr>
            <a:r>
              <a:rPr lang="en-US" sz="2000" b="1" dirty="0">
                <a:solidFill>
                  <a:srgbClr val="4B4A4A"/>
                </a:solidFill>
                <a:ea typeface="Noto Serif SC Bold" pitchFamily="34" charset="-122"/>
                <a:cs typeface="Noto Serif SC Bold" pitchFamily="34" charset="-120"/>
              </a:rPr>
              <a:t>Food System Impact Breakdown</a:t>
            </a:r>
            <a:endParaRPr lang="en-US" sz="2000" dirty="0"/>
          </a:p>
        </p:txBody>
      </p:sp>
      <p:sp>
        <p:nvSpPr>
          <p:cNvPr id="10" name="Text 8"/>
          <p:cNvSpPr/>
          <p:nvPr/>
        </p:nvSpPr>
        <p:spPr>
          <a:xfrm>
            <a:off x="7414379" y="2551514"/>
            <a:ext cx="6422231" cy="124997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Analysis illustrates which components were most affected. The aid system represents the most severely impacted component, indicating humanitarian aid infrastructure was the primary target.</a:t>
            </a:r>
            <a:endParaRPr lang="en-US" sz="2000" dirty="0"/>
          </a:p>
        </p:txBody>
      </p:sp>
      <p:sp>
        <p:nvSpPr>
          <p:cNvPr id="11" name="Text 9"/>
          <p:cNvSpPr/>
          <p:nvPr/>
        </p:nvSpPr>
        <p:spPr>
          <a:xfrm>
            <a:off x="793790" y="3983723"/>
            <a:ext cx="198358" cy="259307"/>
          </a:xfrm>
          <a:prstGeom prst="rect">
            <a:avLst/>
          </a:prstGeom>
          <a:noFill/>
          <a:ln/>
        </p:spPr>
        <p:txBody>
          <a:bodyPr wrap="none" lIns="0" tIns="0" rIns="0" bIns="0" rtlCol="0" anchor="t"/>
          <a:lstStyle/>
          <a:p>
            <a:pPr marL="0" indent="0" algn="l">
              <a:lnSpc>
                <a:spcPts val="2500"/>
              </a:lnSpc>
              <a:buNone/>
            </a:pPr>
            <a:r>
              <a:rPr lang="en-US" sz="2000" dirty="0">
                <a:solidFill>
                  <a:srgbClr val="4B4A4A"/>
                </a:solidFill>
                <a:ea typeface="Noto Serif SC Light" pitchFamily="34" charset="-122"/>
                <a:cs typeface="Noto Serif SC Light" pitchFamily="34" charset="-120"/>
              </a:rPr>
              <a:t>03</a:t>
            </a:r>
            <a:endParaRPr lang="en-US" sz="2000" dirty="0"/>
          </a:p>
        </p:txBody>
      </p:sp>
      <p:sp>
        <p:nvSpPr>
          <p:cNvPr id="12" name="Shape 10"/>
          <p:cNvSpPr/>
          <p:nvPr/>
        </p:nvSpPr>
        <p:spPr>
          <a:xfrm>
            <a:off x="793790" y="4286489"/>
            <a:ext cx="6422231" cy="45719"/>
          </a:xfrm>
          <a:prstGeom prst="rect">
            <a:avLst/>
          </a:prstGeom>
          <a:solidFill>
            <a:srgbClr val="335E23"/>
          </a:solidFill>
          <a:ln/>
        </p:spPr>
        <p:txBody>
          <a:bodyPr/>
          <a:lstStyle/>
          <a:p>
            <a:endParaRPr lang="en-US"/>
          </a:p>
        </p:txBody>
      </p:sp>
      <p:sp>
        <p:nvSpPr>
          <p:cNvPr id="13" name="Text 11"/>
          <p:cNvSpPr/>
          <p:nvPr/>
        </p:nvSpPr>
        <p:spPr>
          <a:xfrm>
            <a:off x="793790" y="4460877"/>
            <a:ext cx="3141107" cy="324289"/>
          </a:xfrm>
          <a:prstGeom prst="rect">
            <a:avLst/>
          </a:prstGeom>
          <a:noFill/>
          <a:ln/>
        </p:spPr>
        <p:txBody>
          <a:bodyPr wrap="none" lIns="0" tIns="0" rIns="0" bIns="0" rtlCol="0" anchor="t"/>
          <a:lstStyle/>
          <a:p>
            <a:pPr marL="0" indent="0" algn="l">
              <a:lnSpc>
                <a:spcPts val="2400"/>
              </a:lnSpc>
              <a:buNone/>
            </a:pPr>
            <a:r>
              <a:rPr lang="en-US" sz="2000" b="1" dirty="0">
                <a:solidFill>
                  <a:srgbClr val="4B4A4A"/>
                </a:solidFill>
                <a:ea typeface="Noto Serif SC Bold" pitchFamily="34" charset="-122"/>
                <a:cs typeface="Noto Serif SC Bold" pitchFamily="34" charset="-120"/>
              </a:rPr>
              <a:t>Enhanced Interpretation</a:t>
            </a:r>
            <a:endParaRPr lang="en-US" sz="2000" dirty="0"/>
          </a:p>
        </p:txBody>
      </p:sp>
      <p:sp>
        <p:nvSpPr>
          <p:cNvPr id="14" name="Text 12"/>
          <p:cNvSpPr/>
          <p:nvPr/>
        </p:nvSpPr>
        <p:spPr>
          <a:xfrm>
            <a:off x="793790" y="4840066"/>
            <a:ext cx="6422231" cy="996022"/>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A tooltip displays all food security categories, including destruction of agricultural land, damage to food-related equipment, and disruption of food production systems.</a:t>
            </a:r>
            <a:endParaRPr lang="en-US" sz="2000" dirty="0"/>
          </a:p>
        </p:txBody>
      </p:sp>
      <p:sp>
        <p:nvSpPr>
          <p:cNvPr id="15" name="Text 13"/>
          <p:cNvSpPr/>
          <p:nvPr/>
        </p:nvSpPr>
        <p:spPr>
          <a:xfrm>
            <a:off x="7414379" y="3983723"/>
            <a:ext cx="198358" cy="259307"/>
          </a:xfrm>
          <a:prstGeom prst="rect">
            <a:avLst/>
          </a:prstGeom>
          <a:noFill/>
          <a:ln/>
        </p:spPr>
        <p:txBody>
          <a:bodyPr wrap="none" lIns="0" tIns="0" rIns="0" bIns="0" rtlCol="0" anchor="t"/>
          <a:lstStyle/>
          <a:p>
            <a:pPr marL="0" indent="0" algn="l">
              <a:lnSpc>
                <a:spcPts val="2500"/>
              </a:lnSpc>
              <a:buNone/>
            </a:pPr>
            <a:r>
              <a:rPr lang="en-US" sz="2000" dirty="0">
                <a:solidFill>
                  <a:srgbClr val="4B4A4A"/>
                </a:solidFill>
                <a:ea typeface="Noto Serif SC Light" pitchFamily="34" charset="-122"/>
                <a:cs typeface="Noto Serif SC Light" pitchFamily="34" charset="-120"/>
              </a:rPr>
              <a:t>04</a:t>
            </a:r>
            <a:endParaRPr lang="en-US" sz="2000" dirty="0"/>
          </a:p>
        </p:txBody>
      </p:sp>
      <p:sp>
        <p:nvSpPr>
          <p:cNvPr id="16" name="Shape 14"/>
          <p:cNvSpPr/>
          <p:nvPr/>
        </p:nvSpPr>
        <p:spPr>
          <a:xfrm>
            <a:off x="7414379" y="4286489"/>
            <a:ext cx="6422231" cy="45719"/>
          </a:xfrm>
          <a:prstGeom prst="rect">
            <a:avLst/>
          </a:prstGeom>
          <a:solidFill>
            <a:srgbClr val="335E23"/>
          </a:solidFill>
          <a:ln/>
        </p:spPr>
        <p:txBody>
          <a:bodyPr/>
          <a:lstStyle/>
          <a:p>
            <a:endParaRPr lang="en-US"/>
          </a:p>
        </p:txBody>
      </p:sp>
      <p:sp>
        <p:nvSpPr>
          <p:cNvPr id="17" name="Text 15"/>
          <p:cNvSpPr/>
          <p:nvPr/>
        </p:nvSpPr>
        <p:spPr>
          <a:xfrm>
            <a:off x="7414379" y="4409651"/>
            <a:ext cx="2816662" cy="324289"/>
          </a:xfrm>
          <a:prstGeom prst="rect">
            <a:avLst/>
          </a:prstGeom>
          <a:noFill/>
          <a:ln/>
        </p:spPr>
        <p:txBody>
          <a:bodyPr wrap="none" lIns="0" tIns="0" rIns="0" bIns="0" rtlCol="0" anchor="t"/>
          <a:lstStyle/>
          <a:p>
            <a:pPr marL="0" indent="0" algn="l">
              <a:lnSpc>
                <a:spcPts val="2400"/>
              </a:lnSpc>
              <a:buNone/>
            </a:pPr>
            <a:r>
              <a:rPr lang="en-US" sz="2000" b="1" dirty="0">
                <a:solidFill>
                  <a:srgbClr val="4B4A4A"/>
                </a:solidFill>
                <a:ea typeface="Noto Serif SC Bold" pitchFamily="34" charset="-122"/>
                <a:cs typeface="Noto Serif SC Bold" pitchFamily="34" charset="-120"/>
              </a:rPr>
              <a:t>Weapon Type Analysis</a:t>
            </a:r>
            <a:endParaRPr lang="en-US" sz="2000" dirty="0"/>
          </a:p>
        </p:txBody>
      </p:sp>
      <p:sp>
        <p:nvSpPr>
          <p:cNvPr id="18" name="Text 16"/>
          <p:cNvSpPr/>
          <p:nvPr/>
        </p:nvSpPr>
        <p:spPr>
          <a:xfrm>
            <a:off x="7414380" y="4739764"/>
            <a:ext cx="6422231" cy="124997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Firearms appear as the most frequently reported weapon. "No Information" represents incidents where weapon type could not be identified due to documentation challenges during active conflict.</a:t>
            </a:r>
            <a:endParaRPr lang="en-US" sz="2000" dirty="0"/>
          </a:p>
        </p:txBody>
      </p:sp>
      <p:sp>
        <p:nvSpPr>
          <p:cNvPr id="19" name="Text 17"/>
          <p:cNvSpPr/>
          <p:nvPr/>
        </p:nvSpPr>
        <p:spPr>
          <a:xfrm>
            <a:off x="793790" y="6224942"/>
            <a:ext cx="13042821" cy="664014"/>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This directly contributes to severe shortages in humanitarian assistance, as warehouses and food storage facilities were systematically targeted throughout the conflict period.</a:t>
            </a:r>
            <a:endParaRPr lang="en-US" sz="2000" dirty="0"/>
          </a:p>
        </p:txBody>
      </p:sp>
      <p:sp>
        <p:nvSpPr>
          <p:cNvPr id="20" name="Shape 18"/>
          <p:cNvSpPr/>
          <p:nvPr/>
        </p:nvSpPr>
        <p:spPr>
          <a:xfrm>
            <a:off x="379928" y="7671460"/>
            <a:ext cx="770930" cy="390143"/>
          </a:xfrm>
          <a:prstGeom prst="roundRect">
            <a:avLst>
              <a:gd name="adj" fmla="val 38297"/>
            </a:avLst>
          </a:prstGeom>
          <a:solidFill>
            <a:srgbClr val="CCFFEF"/>
          </a:solidFill>
          <a:ln/>
        </p:spPr>
        <p:txBody>
          <a:bodyPr/>
          <a:lstStyle/>
          <a:p>
            <a:endParaRPr lang="en-US"/>
          </a:p>
        </p:txBody>
      </p:sp>
      <p:sp>
        <p:nvSpPr>
          <p:cNvPr id="22" name="Text 19"/>
          <p:cNvSpPr/>
          <p:nvPr/>
        </p:nvSpPr>
        <p:spPr>
          <a:xfrm>
            <a:off x="575145" y="7736417"/>
            <a:ext cx="294799" cy="265655"/>
          </a:xfrm>
          <a:prstGeom prst="rect">
            <a:avLst/>
          </a:prstGeom>
          <a:noFill/>
          <a:ln/>
        </p:spPr>
        <p:txBody>
          <a:bodyPr wrap="none" lIns="0" tIns="0" rIns="0" bIns="0" rtlCol="0" anchor="t"/>
          <a:lstStyle/>
          <a:p>
            <a:pPr marL="0" indent="0" algn="l">
              <a:lnSpc>
                <a:spcPts val="2000"/>
              </a:lnSpc>
              <a:buNone/>
            </a:pPr>
            <a:r>
              <a:rPr lang="en-US" sz="2000" b="1" dirty="0">
                <a:solidFill>
                  <a:srgbClr val="4B4A4A"/>
                </a:solidFill>
                <a:ea typeface="Geist" pitchFamily="34" charset="-122"/>
                <a:cs typeface="Geist" pitchFamily="34" charset="-120"/>
              </a:rPr>
              <a:t>K&amp;J</a:t>
            </a:r>
            <a:endParaRPr lang="en-US" sz="20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3175" y="84474"/>
            <a:ext cx="13111055" cy="647590"/>
          </a:xfrm>
          <a:prstGeom prst="rect">
            <a:avLst/>
          </a:prstGeom>
          <a:noFill/>
          <a:ln/>
        </p:spPr>
        <p:txBody>
          <a:bodyPr wrap="square" lIns="0" tIns="0" rIns="0" bIns="0" rtlCol="0" anchor="t"/>
          <a:lstStyle/>
          <a:p>
            <a:pPr marL="0" indent="0" algn="ctr">
              <a:lnSpc>
                <a:spcPts val="4850"/>
              </a:lnSpc>
              <a:buNone/>
            </a:pPr>
            <a:r>
              <a:rPr lang="en-US" sz="4000" b="1" dirty="0">
                <a:solidFill>
                  <a:srgbClr val="006747"/>
                </a:solidFill>
                <a:ea typeface="Noto Serif SC Bold" pitchFamily="34" charset="-122"/>
                <a:cs typeface="Noto Serif SC Bold" pitchFamily="34" charset="-120"/>
              </a:rPr>
              <a:t>Temporal and Spatial Patterns of Food System Targeting</a:t>
            </a:r>
            <a:endParaRPr lang="en-US" sz="4000" dirty="0"/>
          </a:p>
        </p:txBody>
      </p:sp>
      <p:sp>
        <p:nvSpPr>
          <p:cNvPr id="3" name="Text 1"/>
          <p:cNvSpPr/>
          <p:nvPr/>
        </p:nvSpPr>
        <p:spPr>
          <a:xfrm>
            <a:off x="733175" y="4476717"/>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ea typeface="Noto Serif SC Bold" pitchFamily="34" charset="-122"/>
                <a:cs typeface="Noto Serif SC Bold" pitchFamily="34" charset="-120"/>
              </a:rPr>
              <a:t>Temporal Analysis</a:t>
            </a:r>
            <a:endParaRPr lang="en-US" dirty="0"/>
          </a:p>
        </p:txBody>
      </p:sp>
      <p:sp>
        <p:nvSpPr>
          <p:cNvPr id="4" name="Text 2"/>
          <p:cNvSpPr/>
          <p:nvPr/>
        </p:nvSpPr>
        <p:spPr>
          <a:xfrm>
            <a:off x="614112" y="4862964"/>
            <a:ext cx="6279356"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ea typeface="Geist" pitchFamily="34" charset="-122"/>
                <a:cs typeface="Geist" pitchFamily="34" charset="-120"/>
              </a:rPr>
              <a:t>A line chart was utilized as one of the most critical visualizations, as it enables the identification of escalation periods and highlights specific months and years during which attacks on food systems increased significantly.</a:t>
            </a:r>
            <a:endParaRPr lang="en-US" dirty="0"/>
          </a:p>
        </p:txBody>
      </p:sp>
      <p:sp>
        <p:nvSpPr>
          <p:cNvPr id="5" name="Text 3"/>
          <p:cNvSpPr/>
          <p:nvPr/>
        </p:nvSpPr>
        <p:spPr>
          <a:xfrm>
            <a:off x="614112" y="6118699"/>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ea typeface="Geist" pitchFamily="34" charset="-122"/>
                <a:cs typeface="Geist" pitchFamily="34" charset="-120"/>
              </a:rPr>
              <a:t>By linking time with food system impacts, the analysis demonstrates that the conflict is not a static event, but rather a continuously evolving crisis with daily changes.</a:t>
            </a:r>
            <a:endParaRPr lang="en-US" dirty="0"/>
          </a:p>
        </p:txBody>
      </p:sp>
      <p:sp>
        <p:nvSpPr>
          <p:cNvPr id="6" name="Text 4"/>
          <p:cNvSpPr/>
          <p:nvPr/>
        </p:nvSpPr>
        <p:spPr>
          <a:xfrm>
            <a:off x="7564874" y="4476717"/>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ea typeface="Noto Serif SC Bold" pitchFamily="34" charset="-122"/>
                <a:cs typeface="Noto Serif SC Bold" pitchFamily="34" charset="-120"/>
              </a:rPr>
              <a:t>Spatial Analysis</a:t>
            </a:r>
            <a:endParaRPr lang="en-US" dirty="0"/>
          </a:p>
        </p:txBody>
      </p:sp>
      <p:sp>
        <p:nvSpPr>
          <p:cNvPr id="7" name="Text 5"/>
          <p:cNvSpPr/>
          <p:nvPr/>
        </p:nvSpPr>
        <p:spPr>
          <a:xfrm>
            <a:off x="7564874" y="4851616"/>
            <a:ext cx="6279356"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ea typeface="Geist" pitchFamily="34" charset="-122"/>
                <a:cs typeface="Geist" pitchFamily="34" charset="-120"/>
              </a:rPr>
              <a:t>Maps were used as a key spatial visualization tool, as they allow precise geographic analysis. Checkbox filters were applied for weapon type and reported perpetrator, enabling users to identify which specific areas were targeted and under what conditions.</a:t>
            </a:r>
            <a:endParaRPr lang="en-US" dirty="0"/>
          </a:p>
        </p:txBody>
      </p:sp>
      <p:sp>
        <p:nvSpPr>
          <p:cNvPr id="8" name="Text 6"/>
          <p:cNvSpPr/>
          <p:nvPr/>
        </p:nvSpPr>
        <p:spPr>
          <a:xfrm>
            <a:off x="7564874" y="6135120"/>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ea typeface="Geist" pitchFamily="34" charset="-122"/>
                <a:cs typeface="Geist" pitchFamily="34" charset="-120"/>
              </a:rPr>
              <a:t>Among all visualizations, the line chart and the map are considered the most important, as they jointly connect temporal analysis with spatial analysis.</a:t>
            </a:r>
            <a:endParaRPr lang="en-US" dirty="0"/>
          </a:p>
        </p:txBody>
      </p:sp>
      <p:sp>
        <p:nvSpPr>
          <p:cNvPr id="9" name="Text 7"/>
          <p:cNvSpPr/>
          <p:nvPr/>
        </p:nvSpPr>
        <p:spPr>
          <a:xfrm>
            <a:off x="614112" y="704174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ea typeface="Geist" pitchFamily="34" charset="-122"/>
                <a:cs typeface="Geist" pitchFamily="34" charset="-120"/>
              </a:rPr>
              <a:t>This provides a comprehensive understanding of how and where food systems were targeted over time, revealing patterns of systematic disruption to civilian food infrastructure.</a:t>
            </a:r>
            <a:endParaRPr lang="en-US" dirty="0"/>
          </a:p>
        </p:txBody>
      </p:sp>
      <p:sp>
        <p:nvSpPr>
          <p:cNvPr id="10" name="Shape 8"/>
          <p:cNvSpPr/>
          <p:nvPr/>
        </p:nvSpPr>
        <p:spPr>
          <a:xfrm>
            <a:off x="614112" y="7736359"/>
            <a:ext cx="532924" cy="373142"/>
          </a:xfrm>
          <a:prstGeom prst="roundRect">
            <a:avLst>
              <a:gd name="adj" fmla="val 38297"/>
            </a:avLst>
          </a:prstGeom>
          <a:solidFill>
            <a:srgbClr val="CCFFEF"/>
          </a:solidFill>
          <a:ln/>
        </p:spPr>
        <p:txBody>
          <a:bodyPr/>
          <a:lstStyle/>
          <a:p>
            <a:endParaRPr lang="en-US"/>
          </a:p>
        </p:txBody>
      </p:sp>
      <p:sp>
        <p:nvSpPr>
          <p:cNvPr id="11" name="Text 9"/>
          <p:cNvSpPr/>
          <p:nvPr/>
        </p:nvSpPr>
        <p:spPr>
          <a:xfrm>
            <a:off x="733175" y="7795891"/>
            <a:ext cx="294799" cy="254079"/>
          </a:xfrm>
          <a:prstGeom prst="rect">
            <a:avLst/>
          </a:prstGeom>
          <a:noFill/>
          <a:ln/>
        </p:spPr>
        <p:txBody>
          <a:bodyPr wrap="none" lIns="0" tIns="0" rIns="0" bIns="0" rtlCol="0" anchor="t"/>
          <a:lstStyle/>
          <a:p>
            <a:pPr marL="0" indent="0" algn="l">
              <a:lnSpc>
                <a:spcPts val="2000"/>
              </a:lnSpc>
              <a:buNone/>
            </a:pPr>
            <a:r>
              <a:rPr lang="en-US" b="1" dirty="0">
                <a:solidFill>
                  <a:srgbClr val="4B4A4A"/>
                </a:solidFill>
                <a:ea typeface="Geist" pitchFamily="34" charset="-122"/>
                <a:cs typeface="Geist" pitchFamily="34" charset="-120"/>
              </a:rPr>
              <a:t>K&amp;J</a:t>
            </a:r>
            <a:endParaRPr lang="en-US" b="1" dirty="0"/>
          </a:p>
        </p:txBody>
      </p:sp>
      <p:pic>
        <p:nvPicPr>
          <p:cNvPr id="12" name="drawing"/>
          <p:cNvPicPr/>
          <p:nvPr/>
        </p:nvPicPr>
        <p:blipFill>
          <a:blip r:embed="rId3">
            <a:extLst>
              <a:ext uri="{28A0092B-C50C-407E-A947-70E740481C1C}">
                <a14:useLocalDpi xmlns:a14="http://schemas.microsoft.com/office/drawing/2010/main"/>
              </a:ext>
            </a:extLst>
          </a:blip>
          <a:stretch>
            <a:fillRect/>
          </a:stretch>
        </p:blipFill>
        <p:spPr>
          <a:xfrm>
            <a:off x="614112" y="791596"/>
            <a:ext cx="13410646" cy="36295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7614" y="2505694"/>
            <a:ext cx="7946448" cy="2123658"/>
          </a:xfrm>
          <a:prstGeom prst="rect">
            <a:avLst/>
          </a:prstGeom>
          <a:noFill/>
        </p:spPr>
        <p:txBody>
          <a:bodyPr wrap="square" lIns="91440" tIns="45720" rIns="91440" bIns="45720">
            <a:spAutoFit/>
          </a:bodyPr>
          <a:lstStyle/>
          <a:p>
            <a:pPr algn="ctr"/>
            <a:r>
              <a:rPr lang="en-GB" sz="6600" b="1" dirty="0">
                <a:ln w="0"/>
                <a:solidFill>
                  <a:srgbClr val="006747"/>
                </a:solidFill>
              </a:rPr>
              <a:t>Media</a:t>
            </a:r>
          </a:p>
          <a:p>
            <a:pPr algn="ctr"/>
            <a:r>
              <a:rPr lang="en-GB" sz="6600" b="1" cap="none" spc="0" dirty="0">
                <a:ln w="0"/>
                <a:solidFill>
                  <a:srgbClr val="006747"/>
                </a:solidFill>
              </a:rPr>
              <a:t>Line Chart and News </a:t>
            </a:r>
            <a:endParaRPr lang="en-US" sz="6600" b="1" cap="none" spc="0" dirty="0">
              <a:ln w="0"/>
              <a:solidFill>
                <a:srgbClr val="006747"/>
              </a:solidFill>
            </a:endParaRPr>
          </a:p>
        </p:txBody>
      </p:sp>
    </p:spTree>
    <p:extLst>
      <p:ext uri="{BB962C8B-B14F-4D97-AF65-F5344CB8AC3E}">
        <p14:creationId xmlns:p14="http://schemas.microsoft.com/office/powerpoint/2010/main" val="3858470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237120" y="124104"/>
            <a:ext cx="11222593" cy="620078"/>
          </a:xfrm>
          <a:prstGeom prst="rect">
            <a:avLst/>
          </a:prstGeom>
          <a:noFill/>
          <a:ln/>
        </p:spPr>
        <p:txBody>
          <a:bodyPr wrap="none" lIns="0" tIns="0" rIns="0" bIns="0" rtlCol="0" anchor="t"/>
          <a:lstStyle/>
          <a:p>
            <a:pPr marL="0" indent="0" algn="ctr">
              <a:lnSpc>
                <a:spcPts val="4850"/>
              </a:lnSpc>
              <a:buNone/>
            </a:pPr>
            <a:r>
              <a:rPr lang="en-US" sz="4000" b="1" dirty="0">
                <a:solidFill>
                  <a:srgbClr val="006747"/>
                </a:solidFill>
                <a:ea typeface="Noto Serif SC Bold" pitchFamily="34" charset="-122"/>
                <a:cs typeface="Noto Serif SC Bold" pitchFamily="34" charset="-120"/>
              </a:rPr>
              <a:t>Linking Line Chart Analysis with Media Data</a:t>
            </a:r>
            <a:endParaRPr lang="en-US" sz="4000" dirty="0"/>
          </a:p>
        </p:txBody>
      </p:sp>
      <p:sp>
        <p:nvSpPr>
          <p:cNvPr id="4" name="Text 1"/>
          <p:cNvSpPr/>
          <p:nvPr/>
        </p:nvSpPr>
        <p:spPr>
          <a:xfrm>
            <a:off x="992148" y="3013948"/>
            <a:ext cx="2480905" cy="310158"/>
          </a:xfrm>
          <a:prstGeom prst="rect">
            <a:avLst/>
          </a:prstGeom>
          <a:noFill/>
          <a:ln/>
        </p:spPr>
        <p:txBody>
          <a:bodyPr wrap="none" lIns="0" tIns="0" rIns="0" bIns="0" rtlCol="0" anchor="t"/>
          <a:lstStyle/>
          <a:p>
            <a:pPr marL="0" indent="0" algn="l">
              <a:lnSpc>
                <a:spcPts val="2400"/>
              </a:lnSpc>
              <a:buNone/>
            </a:pPr>
            <a:endParaRPr lang="en-US" sz="2000" dirty="0"/>
          </a:p>
        </p:txBody>
      </p:sp>
      <p:sp>
        <p:nvSpPr>
          <p:cNvPr id="5" name="Text 2"/>
          <p:cNvSpPr/>
          <p:nvPr/>
        </p:nvSpPr>
        <p:spPr>
          <a:xfrm>
            <a:off x="992148" y="3443168"/>
            <a:ext cx="3950851" cy="635079"/>
          </a:xfrm>
          <a:prstGeom prst="rect">
            <a:avLst/>
          </a:prstGeom>
          <a:noFill/>
          <a:ln/>
        </p:spPr>
        <p:txBody>
          <a:bodyPr wrap="square" lIns="0" tIns="0" rIns="0" bIns="0" rtlCol="0" anchor="t"/>
          <a:lstStyle/>
          <a:p>
            <a:pPr marL="0" indent="0" algn="l">
              <a:lnSpc>
                <a:spcPts val="2500"/>
              </a:lnSpc>
              <a:buNone/>
            </a:pPr>
            <a:endParaRPr lang="en-US" sz="2000" dirty="0"/>
          </a:p>
        </p:txBody>
      </p:sp>
      <p:sp>
        <p:nvSpPr>
          <p:cNvPr id="7" name="Text 3"/>
          <p:cNvSpPr/>
          <p:nvPr/>
        </p:nvSpPr>
        <p:spPr>
          <a:xfrm>
            <a:off x="5339715" y="3013948"/>
            <a:ext cx="2480905" cy="310158"/>
          </a:xfrm>
          <a:prstGeom prst="rect">
            <a:avLst/>
          </a:prstGeom>
          <a:noFill/>
          <a:ln/>
        </p:spPr>
        <p:txBody>
          <a:bodyPr wrap="none" lIns="0" tIns="0" rIns="0" bIns="0" rtlCol="0" anchor="t"/>
          <a:lstStyle/>
          <a:p>
            <a:pPr marL="0" indent="0" algn="l">
              <a:lnSpc>
                <a:spcPts val="2400"/>
              </a:lnSpc>
              <a:buNone/>
            </a:pPr>
            <a:endParaRPr lang="en-US" sz="2000" dirty="0"/>
          </a:p>
        </p:txBody>
      </p:sp>
      <p:sp>
        <p:nvSpPr>
          <p:cNvPr id="8" name="Text 4"/>
          <p:cNvSpPr/>
          <p:nvPr/>
        </p:nvSpPr>
        <p:spPr>
          <a:xfrm>
            <a:off x="5339715" y="3443168"/>
            <a:ext cx="3950851" cy="635079"/>
          </a:xfrm>
          <a:prstGeom prst="rect">
            <a:avLst/>
          </a:prstGeom>
          <a:noFill/>
          <a:ln/>
        </p:spPr>
        <p:txBody>
          <a:bodyPr wrap="square" lIns="0" tIns="0" rIns="0" bIns="0" rtlCol="0" anchor="t"/>
          <a:lstStyle/>
          <a:p>
            <a:pPr marL="0" indent="0" algn="l">
              <a:lnSpc>
                <a:spcPts val="2500"/>
              </a:lnSpc>
              <a:buNone/>
            </a:pPr>
            <a:endParaRPr lang="en-US" sz="2000" dirty="0"/>
          </a:p>
        </p:txBody>
      </p:sp>
      <p:sp>
        <p:nvSpPr>
          <p:cNvPr id="10" name="Text 5"/>
          <p:cNvSpPr/>
          <p:nvPr/>
        </p:nvSpPr>
        <p:spPr>
          <a:xfrm>
            <a:off x="9687282" y="3013948"/>
            <a:ext cx="3141107" cy="310158"/>
          </a:xfrm>
          <a:prstGeom prst="rect">
            <a:avLst/>
          </a:prstGeom>
          <a:noFill/>
          <a:ln/>
        </p:spPr>
        <p:txBody>
          <a:bodyPr wrap="none" lIns="0" tIns="0" rIns="0" bIns="0" rtlCol="0" anchor="t"/>
          <a:lstStyle/>
          <a:p>
            <a:pPr marL="0" indent="0" algn="l">
              <a:lnSpc>
                <a:spcPts val="2400"/>
              </a:lnSpc>
              <a:buNone/>
            </a:pPr>
            <a:endParaRPr lang="en-US" sz="2000" dirty="0"/>
          </a:p>
        </p:txBody>
      </p:sp>
      <p:sp>
        <p:nvSpPr>
          <p:cNvPr id="11" name="Text 6"/>
          <p:cNvSpPr/>
          <p:nvPr/>
        </p:nvSpPr>
        <p:spPr>
          <a:xfrm>
            <a:off x="9687282" y="3443168"/>
            <a:ext cx="3950851" cy="635079"/>
          </a:xfrm>
          <a:prstGeom prst="rect">
            <a:avLst/>
          </a:prstGeom>
          <a:noFill/>
          <a:ln/>
        </p:spPr>
        <p:txBody>
          <a:bodyPr wrap="square" lIns="0" tIns="0" rIns="0" bIns="0" rtlCol="0" anchor="t"/>
          <a:lstStyle/>
          <a:p>
            <a:pPr marL="0" indent="0" algn="l">
              <a:lnSpc>
                <a:spcPts val="2500"/>
              </a:lnSpc>
              <a:buNone/>
            </a:pPr>
            <a:endParaRPr lang="en-US" sz="2000" dirty="0"/>
          </a:p>
        </p:txBody>
      </p:sp>
      <p:sp>
        <p:nvSpPr>
          <p:cNvPr id="12" name="Text 7"/>
          <p:cNvSpPr/>
          <p:nvPr/>
        </p:nvSpPr>
        <p:spPr>
          <a:xfrm>
            <a:off x="498991" y="5846581"/>
            <a:ext cx="13042821" cy="95261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Building on the line chart analysis, we enhanced the interpretation by linking the temporal trends with media coverage. This was achieved by creating a connection between Al Jazeera's news content and our dashboard through news data collected from the GDELT Project API (Global Database of Events, Language, and Tone).</a:t>
            </a:r>
            <a:endParaRPr lang="en-US" sz="2000" dirty="0"/>
          </a:p>
        </p:txBody>
      </p:sp>
      <p:sp>
        <p:nvSpPr>
          <p:cNvPr id="13" name="Text 8"/>
          <p:cNvSpPr/>
          <p:nvPr/>
        </p:nvSpPr>
        <p:spPr>
          <a:xfrm>
            <a:off x="498991" y="6905484"/>
            <a:ext cx="13042821" cy="952619"/>
          </a:xfrm>
          <a:prstGeom prst="rect">
            <a:avLst/>
          </a:prstGeom>
          <a:noFill/>
          <a:ln/>
        </p:spPr>
        <p:txBody>
          <a:bodyPr wrap="square" lIns="0" tIns="0" rIns="0" bIns="0" rtlCol="0" anchor="t"/>
          <a:lstStyle/>
          <a:p>
            <a:pPr marL="0" indent="0" algn="l">
              <a:lnSpc>
                <a:spcPts val="2500"/>
              </a:lnSpc>
              <a:buNone/>
            </a:pPr>
            <a:r>
              <a:rPr lang="en-US" sz="2000" dirty="0">
                <a:solidFill>
                  <a:srgbClr val="4B4A4A"/>
                </a:solidFill>
                <a:ea typeface="Geist" pitchFamily="34" charset="-122"/>
                <a:cs typeface="Geist" pitchFamily="34" charset="-120"/>
              </a:rPr>
              <a:t>This integration allowed us to associate the patterns observed in the line chart with real-world events reported in the media, thereby strengthening the interpretation of escalation periods related to food system impacts .</a:t>
            </a:r>
            <a:endParaRPr lang="en-US" sz="2000" dirty="0"/>
          </a:p>
        </p:txBody>
      </p:sp>
      <p:sp>
        <p:nvSpPr>
          <p:cNvPr id="14" name="Shape 9"/>
          <p:cNvSpPr/>
          <p:nvPr/>
        </p:nvSpPr>
        <p:spPr>
          <a:xfrm>
            <a:off x="379928" y="7744658"/>
            <a:ext cx="532924" cy="373142"/>
          </a:xfrm>
          <a:prstGeom prst="roundRect">
            <a:avLst>
              <a:gd name="adj" fmla="val 38297"/>
            </a:avLst>
          </a:prstGeom>
          <a:solidFill>
            <a:srgbClr val="CCFFEF"/>
          </a:solidFill>
          <a:ln/>
        </p:spPr>
        <p:txBody>
          <a:bodyPr/>
          <a:lstStyle/>
          <a:p>
            <a:endParaRPr lang="en-US"/>
          </a:p>
        </p:txBody>
      </p:sp>
      <p:sp>
        <p:nvSpPr>
          <p:cNvPr id="15" name="Text 10"/>
          <p:cNvSpPr/>
          <p:nvPr/>
        </p:nvSpPr>
        <p:spPr>
          <a:xfrm>
            <a:off x="498991" y="7804189"/>
            <a:ext cx="294799" cy="254079"/>
          </a:xfrm>
          <a:prstGeom prst="rect">
            <a:avLst/>
          </a:prstGeom>
          <a:noFill/>
          <a:ln/>
        </p:spPr>
        <p:txBody>
          <a:bodyPr wrap="none" lIns="0" tIns="0" rIns="0" bIns="0" rtlCol="0" anchor="t"/>
          <a:lstStyle/>
          <a:p>
            <a:pPr marL="0" indent="0" algn="l">
              <a:lnSpc>
                <a:spcPts val="2000"/>
              </a:lnSpc>
              <a:buNone/>
            </a:pPr>
            <a:r>
              <a:rPr lang="en-US" sz="2000" b="1" dirty="0">
                <a:solidFill>
                  <a:srgbClr val="4B4A4A"/>
                </a:solidFill>
                <a:ea typeface="Geist" pitchFamily="34" charset="-122"/>
                <a:cs typeface="Geist" pitchFamily="34" charset="-120"/>
              </a:rPr>
              <a:t>K&amp;J</a:t>
            </a:r>
            <a:endParaRPr lang="en-US" sz="2000" b="1" dirty="0"/>
          </a:p>
        </p:txBody>
      </p:sp>
      <p:pic>
        <p:nvPicPr>
          <p:cNvPr id="16" name="drawing"/>
          <p:cNvPicPr/>
          <p:nvPr/>
        </p:nvPicPr>
        <p:blipFill>
          <a:blip r:embed="rId3">
            <a:extLst>
              <a:ext uri="{28A0092B-C50C-407E-A947-70E740481C1C}">
                <a14:useLocalDpi xmlns:a14="http://schemas.microsoft.com/office/drawing/2010/main"/>
              </a:ext>
            </a:extLst>
          </a:blip>
          <a:stretch>
            <a:fillRect/>
          </a:stretch>
        </p:blipFill>
        <p:spPr>
          <a:xfrm>
            <a:off x="793790" y="814675"/>
            <a:ext cx="11993367" cy="49039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468160" y="326231"/>
            <a:ext cx="11810518" cy="680201"/>
          </a:xfrm>
          <a:prstGeom prst="rect">
            <a:avLst/>
          </a:prstGeom>
          <a:noFill/>
          <a:ln/>
        </p:spPr>
        <p:txBody>
          <a:bodyPr wrap="none" lIns="0" tIns="0" rIns="0" bIns="0" rtlCol="0" anchor="t"/>
          <a:lstStyle/>
          <a:p>
            <a:pPr marL="0" indent="0" algn="ctr">
              <a:lnSpc>
                <a:spcPts val="3950"/>
              </a:lnSpc>
              <a:buNone/>
            </a:pPr>
            <a:r>
              <a:rPr lang="en-US" sz="4000" b="1" dirty="0">
                <a:solidFill>
                  <a:srgbClr val="006747"/>
                </a:solidFill>
                <a:ea typeface="Noto Serif SC Bold" pitchFamily="34" charset="-122"/>
                <a:cs typeface="Noto Serif SC Bold" pitchFamily="34" charset="-120"/>
              </a:rPr>
              <a:t>Media Data Structuring and Daily Extraction Approach</a:t>
            </a:r>
            <a:endParaRPr lang="en-US" sz="4000" dirty="0"/>
          </a:p>
        </p:txBody>
      </p:sp>
      <p:sp>
        <p:nvSpPr>
          <p:cNvPr id="3" name="Shape 1"/>
          <p:cNvSpPr/>
          <p:nvPr/>
        </p:nvSpPr>
        <p:spPr>
          <a:xfrm>
            <a:off x="1371004" y="1674075"/>
            <a:ext cx="5766078" cy="1594128"/>
          </a:xfrm>
          <a:prstGeom prst="roundRect">
            <a:avLst>
              <a:gd name="adj" fmla="val 9133"/>
            </a:avLst>
          </a:prstGeom>
          <a:solidFill>
            <a:srgbClr val="D1EFE4"/>
          </a:solidFill>
          <a:ln w="7620">
            <a:solidFill>
              <a:srgbClr val="8CAB18"/>
            </a:solidFill>
            <a:prstDash val="solid"/>
          </a:ln>
        </p:spPr>
        <p:txBody>
          <a:bodyPr/>
          <a:lstStyle/>
          <a:p>
            <a:endParaRPr lang="en-US"/>
          </a:p>
        </p:txBody>
      </p:sp>
      <p:sp>
        <p:nvSpPr>
          <p:cNvPr id="6" name="Text 3"/>
          <p:cNvSpPr/>
          <p:nvPr/>
        </p:nvSpPr>
        <p:spPr>
          <a:xfrm>
            <a:off x="1626108" y="2003225"/>
            <a:ext cx="2806065" cy="252651"/>
          </a:xfrm>
          <a:prstGeom prst="rect">
            <a:avLst/>
          </a:prstGeom>
          <a:noFill/>
          <a:ln/>
        </p:spPr>
        <p:txBody>
          <a:bodyPr wrap="none" lIns="0" tIns="0" rIns="0" bIns="0" rtlCol="0" anchor="t"/>
          <a:lstStyle/>
          <a:p>
            <a:pPr marL="0" indent="0" algn="l">
              <a:lnSpc>
                <a:spcPts val="1950"/>
              </a:lnSpc>
              <a:buNone/>
            </a:pPr>
            <a:r>
              <a:rPr lang="en-US" sz="1600" b="1" dirty="0">
                <a:solidFill>
                  <a:srgbClr val="4B4A4A"/>
                </a:solidFill>
                <a:ea typeface="Noto Serif SC Bold" pitchFamily="34" charset="-122"/>
                <a:cs typeface="Noto Serif SC Bold" pitchFamily="34" charset="-120"/>
              </a:rPr>
              <a:t>Unstructured to Structured</a:t>
            </a:r>
            <a:endParaRPr lang="en-US" sz="1600" dirty="0"/>
          </a:p>
        </p:txBody>
      </p:sp>
      <p:sp>
        <p:nvSpPr>
          <p:cNvPr id="7" name="Text 4"/>
          <p:cNvSpPr/>
          <p:nvPr/>
        </p:nvSpPr>
        <p:spPr>
          <a:xfrm>
            <a:off x="1626108" y="2480223"/>
            <a:ext cx="5427464" cy="494365"/>
          </a:xfrm>
          <a:prstGeom prst="rect">
            <a:avLst/>
          </a:prstGeom>
          <a:noFill/>
          <a:ln/>
        </p:spPr>
        <p:txBody>
          <a:bodyPr wrap="none" lIns="0" tIns="0" rIns="0" bIns="0" rtlCol="0" anchor="t"/>
          <a:lstStyle/>
          <a:p>
            <a:pPr marL="0" indent="0" algn="l">
              <a:lnSpc>
                <a:spcPts val="2000"/>
              </a:lnSpc>
              <a:buNone/>
            </a:pPr>
            <a:r>
              <a:rPr lang="en-US" sz="1600" dirty="0">
                <a:solidFill>
                  <a:srgbClr val="4B4A4A"/>
                </a:solidFill>
                <a:ea typeface="Geist" pitchFamily="34" charset="-122"/>
                <a:cs typeface="Geist" pitchFamily="34" charset="-120"/>
              </a:rPr>
              <a:t>Transform news text into structured dataset suitable for</a:t>
            </a:r>
            <a:br>
              <a:rPr lang="en-US" sz="1600" dirty="0">
                <a:solidFill>
                  <a:srgbClr val="4B4A4A"/>
                </a:solidFill>
                <a:ea typeface="Geist" pitchFamily="34" charset="-122"/>
                <a:cs typeface="Geist" pitchFamily="34" charset="-120"/>
              </a:rPr>
            </a:br>
            <a:r>
              <a:rPr lang="en-US" sz="1600" dirty="0">
                <a:solidFill>
                  <a:srgbClr val="4B4A4A"/>
                </a:solidFill>
                <a:ea typeface="Geist" pitchFamily="34" charset="-122"/>
                <a:cs typeface="Geist" pitchFamily="34" charset="-120"/>
              </a:rPr>
              <a:t> tabular analysis</a:t>
            </a:r>
            <a:endParaRPr lang="en-US" sz="1600" dirty="0"/>
          </a:p>
        </p:txBody>
      </p:sp>
      <p:sp>
        <p:nvSpPr>
          <p:cNvPr id="8" name="Shape 5"/>
          <p:cNvSpPr/>
          <p:nvPr/>
        </p:nvSpPr>
        <p:spPr>
          <a:xfrm>
            <a:off x="7395924" y="1674075"/>
            <a:ext cx="5766197" cy="1594128"/>
          </a:xfrm>
          <a:prstGeom prst="roundRect">
            <a:avLst>
              <a:gd name="adj" fmla="val 9133"/>
            </a:avLst>
          </a:prstGeom>
          <a:solidFill>
            <a:srgbClr val="D1EFE4"/>
          </a:solidFill>
          <a:ln w="7620">
            <a:solidFill>
              <a:srgbClr val="8CAB18"/>
            </a:solidFill>
            <a:prstDash val="solid"/>
          </a:ln>
        </p:spPr>
        <p:txBody>
          <a:bodyPr/>
          <a:lstStyle/>
          <a:p>
            <a:endParaRPr lang="en-US"/>
          </a:p>
        </p:txBody>
      </p:sp>
      <p:sp>
        <p:nvSpPr>
          <p:cNvPr id="11" name="Text 7"/>
          <p:cNvSpPr/>
          <p:nvPr/>
        </p:nvSpPr>
        <p:spPr>
          <a:xfrm>
            <a:off x="7565231" y="2019627"/>
            <a:ext cx="2022158" cy="252651"/>
          </a:xfrm>
          <a:prstGeom prst="rect">
            <a:avLst/>
          </a:prstGeom>
          <a:noFill/>
          <a:ln/>
        </p:spPr>
        <p:txBody>
          <a:bodyPr wrap="none" lIns="0" tIns="0" rIns="0" bIns="0" rtlCol="0" anchor="t"/>
          <a:lstStyle/>
          <a:p>
            <a:pPr marL="0" indent="0" algn="l">
              <a:lnSpc>
                <a:spcPts val="1950"/>
              </a:lnSpc>
              <a:buNone/>
            </a:pPr>
            <a:r>
              <a:rPr lang="en-US" sz="1600" b="1" dirty="0">
                <a:solidFill>
                  <a:srgbClr val="4B4A4A"/>
                </a:solidFill>
                <a:ea typeface="Noto Serif SC Bold" pitchFamily="34" charset="-122"/>
                <a:cs typeface="Noto Serif SC Bold" pitchFamily="34" charset="-120"/>
              </a:rPr>
              <a:t>Daily Extraction</a:t>
            </a:r>
            <a:endParaRPr lang="en-US" sz="1600" dirty="0"/>
          </a:p>
        </p:txBody>
      </p:sp>
      <p:sp>
        <p:nvSpPr>
          <p:cNvPr id="12" name="Text 8"/>
          <p:cNvSpPr/>
          <p:nvPr/>
        </p:nvSpPr>
        <p:spPr>
          <a:xfrm>
            <a:off x="7565231" y="2496459"/>
            <a:ext cx="5427583" cy="258842"/>
          </a:xfrm>
          <a:prstGeom prst="rect">
            <a:avLst/>
          </a:prstGeom>
          <a:noFill/>
          <a:ln/>
        </p:spPr>
        <p:txBody>
          <a:bodyPr wrap="none" lIns="0" tIns="0" rIns="0" bIns="0" rtlCol="0" anchor="t"/>
          <a:lstStyle/>
          <a:p>
            <a:pPr marL="0" indent="0" algn="l">
              <a:lnSpc>
                <a:spcPts val="2000"/>
              </a:lnSpc>
              <a:buNone/>
            </a:pPr>
            <a:r>
              <a:rPr lang="en-US" sz="1600" dirty="0">
                <a:solidFill>
                  <a:srgbClr val="4B4A4A"/>
                </a:solidFill>
                <a:ea typeface="Geist" pitchFamily="34" charset="-122"/>
                <a:cs typeface="Geist" pitchFamily="34" charset="-120"/>
              </a:rPr>
              <a:t>Retrieve news articles daily from 07/10/2023 to 30/09/2025</a:t>
            </a:r>
            <a:endParaRPr lang="en-US" sz="1600" dirty="0"/>
          </a:p>
        </p:txBody>
      </p:sp>
      <p:sp>
        <p:nvSpPr>
          <p:cNvPr id="13" name="Shape 9"/>
          <p:cNvSpPr/>
          <p:nvPr/>
        </p:nvSpPr>
        <p:spPr>
          <a:xfrm>
            <a:off x="1371123" y="3575166"/>
            <a:ext cx="5766078" cy="1594128"/>
          </a:xfrm>
          <a:prstGeom prst="roundRect">
            <a:avLst>
              <a:gd name="adj" fmla="val 9133"/>
            </a:avLst>
          </a:prstGeom>
          <a:solidFill>
            <a:srgbClr val="D1EFE4"/>
          </a:solidFill>
          <a:ln w="7620">
            <a:solidFill>
              <a:srgbClr val="8CAB18"/>
            </a:solidFill>
            <a:prstDash val="solid"/>
          </a:ln>
        </p:spPr>
        <p:txBody>
          <a:bodyPr/>
          <a:lstStyle/>
          <a:p>
            <a:endParaRPr lang="en-US"/>
          </a:p>
        </p:txBody>
      </p:sp>
      <p:sp>
        <p:nvSpPr>
          <p:cNvPr id="16" name="Text 11"/>
          <p:cNvSpPr/>
          <p:nvPr/>
        </p:nvSpPr>
        <p:spPr>
          <a:xfrm>
            <a:off x="1626108" y="3801483"/>
            <a:ext cx="2173248" cy="252651"/>
          </a:xfrm>
          <a:prstGeom prst="rect">
            <a:avLst/>
          </a:prstGeom>
          <a:noFill/>
          <a:ln/>
        </p:spPr>
        <p:txBody>
          <a:bodyPr wrap="none" lIns="0" tIns="0" rIns="0" bIns="0" rtlCol="0" anchor="t"/>
          <a:lstStyle/>
          <a:p>
            <a:pPr marL="0" indent="0" algn="l">
              <a:lnSpc>
                <a:spcPts val="1950"/>
              </a:lnSpc>
              <a:buNone/>
            </a:pPr>
            <a:r>
              <a:rPr lang="en-US" sz="1600" b="1" dirty="0">
                <a:solidFill>
                  <a:srgbClr val="4B4A4A"/>
                </a:solidFill>
                <a:ea typeface="Noto Serif SC Bold" pitchFamily="34" charset="-122"/>
                <a:cs typeface="Noto Serif SC Bold" pitchFamily="34" charset="-120"/>
              </a:rPr>
              <a:t>Volume Management</a:t>
            </a:r>
            <a:endParaRPr lang="en-US" sz="1600" dirty="0"/>
          </a:p>
        </p:txBody>
      </p:sp>
      <p:sp>
        <p:nvSpPr>
          <p:cNvPr id="17" name="Text 12"/>
          <p:cNvSpPr/>
          <p:nvPr/>
        </p:nvSpPr>
        <p:spPr>
          <a:xfrm>
            <a:off x="1637467" y="4242809"/>
            <a:ext cx="5427464" cy="258842"/>
          </a:xfrm>
          <a:prstGeom prst="rect">
            <a:avLst/>
          </a:prstGeom>
          <a:noFill/>
          <a:ln/>
        </p:spPr>
        <p:txBody>
          <a:bodyPr wrap="none" lIns="0" tIns="0" rIns="0" bIns="0" rtlCol="0" anchor="t"/>
          <a:lstStyle/>
          <a:p>
            <a:pPr marL="0" indent="0" algn="l">
              <a:lnSpc>
                <a:spcPts val="2000"/>
              </a:lnSpc>
              <a:buNone/>
            </a:pPr>
            <a:r>
              <a:rPr lang="en-US" sz="1600" dirty="0">
                <a:solidFill>
                  <a:srgbClr val="4B4A4A"/>
                </a:solidFill>
                <a:ea typeface="Geist" pitchFamily="34" charset="-122"/>
                <a:cs typeface="Geist" pitchFamily="34" charset="-120"/>
              </a:rPr>
              <a:t>Up to 200 articles per day due to API constraints</a:t>
            </a:r>
            <a:endParaRPr lang="en-US" sz="1600" dirty="0"/>
          </a:p>
        </p:txBody>
      </p:sp>
      <p:sp>
        <p:nvSpPr>
          <p:cNvPr id="18" name="Shape 13"/>
          <p:cNvSpPr/>
          <p:nvPr/>
        </p:nvSpPr>
        <p:spPr>
          <a:xfrm>
            <a:off x="7403545" y="3558535"/>
            <a:ext cx="5766197" cy="1594128"/>
          </a:xfrm>
          <a:prstGeom prst="roundRect">
            <a:avLst>
              <a:gd name="adj" fmla="val 9133"/>
            </a:avLst>
          </a:prstGeom>
          <a:solidFill>
            <a:srgbClr val="D1EFE4"/>
          </a:solidFill>
          <a:ln w="7620">
            <a:solidFill>
              <a:srgbClr val="8CAB18"/>
            </a:solidFill>
            <a:prstDash val="solid"/>
          </a:ln>
        </p:spPr>
        <p:txBody>
          <a:bodyPr/>
          <a:lstStyle/>
          <a:p>
            <a:endParaRPr lang="en-US"/>
          </a:p>
        </p:txBody>
      </p:sp>
      <p:sp>
        <p:nvSpPr>
          <p:cNvPr id="21" name="Text 15"/>
          <p:cNvSpPr/>
          <p:nvPr/>
        </p:nvSpPr>
        <p:spPr>
          <a:xfrm>
            <a:off x="7704893" y="3833863"/>
            <a:ext cx="2352675" cy="252651"/>
          </a:xfrm>
          <a:prstGeom prst="rect">
            <a:avLst/>
          </a:prstGeom>
          <a:noFill/>
          <a:ln/>
        </p:spPr>
        <p:txBody>
          <a:bodyPr wrap="none" lIns="0" tIns="0" rIns="0" bIns="0" rtlCol="0" anchor="t"/>
          <a:lstStyle/>
          <a:p>
            <a:pPr marL="0" indent="0" algn="l">
              <a:lnSpc>
                <a:spcPts val="1950"/>
              </a:lnSpc>
              <a:buNone/>
            </a:pPr>
            <a:r>
              <a:rPr lang="en-US" sz="1600" b="1" dirty="0">
                <a:solidFill>
                  <a:srgbClr val="4B4A4A"/>
                </a:solidFill>
                <a:ea typeface="Noto Serif SC Bold" pitchFamily="34" charset="-122"/>
                <a:cs typeface="Noto Serif SC Bold" pitchFamily="34" charset="-120"/>
              </a:rPr>
              <a:t>Automated Integration</a:t>
            </a:r>
            <a:endParaRPr lang="en-US" sz="1600" dirty="0"/>
          </a:p>
        </p:txBody>
      </p:sp>
      <p:sp>
        <p:nvSpPr>
          <p:cNvPr id="22" name="Text 16"/>
          <p:cNvSpPr/>
          <p:nvPr/>
        </p:nvSpPr>
        <p:spPr>
          <a:xfrm>
            <a:off x="7704893" y="4261488"/>
            <a:ext cx="5427583" cy="549174"/>
          </a:xfrm>
          <a:prstGeom prst="rect">
            <a:avLst/>
          </a:prstGeom>
          <a:noFill/>
          <a:ln/>
        </p:spPr>
        <p:txBody>
          <a:bodyPr wrap="none" lIns="0" tIns="0" rIns="0" bIns="0" rtlCol="0" anchor="t"/>
          <a:lstStyle/>
          <a:p>
            <a:pPr marL="0" indent="0" algn="l">
              <a:lnSpc>
                <a:spcPts val="2000"/>
              </a:lnSpc>
              <a:buNone/>
            </a:pPr>
            <a:r>
              <a:rPr lang="en-US" sz="1600" dirty="0">
                <a:solidFill>
                  <a:srgbClr val="4B4A4A"/>
                </a:solidFill>
                <a:ea typeface="Geist" pitchFamily="34" charset="-122"/>
                <a:cs typeface="Geist" pitchFamily="34" charset="-120"/>
              </a:rPr>
              <a:t>Custom code in Power BI Advanced Editor for</a:t>
            </a:r>
            <a:br>
              <a:rPr lang="en-US" sz="1600" dirty="0">
                <a:solidFill>
                  <a:srgbClr val="4B4A4A"/>
                </a:solidFill>
                <a:ea typeface="Geist" pitchFamily="34" charset="-122"/>
                <a:cs typeface="Geist" pitchFamily="34" charset="-120"/>
              </a:rPr>
            </a:br>
            <a:r>
              <a:rPr lang="en-US" sz="1600" dirty="0">
                <a:solidFill>
                  <a:srgbClr val="4B4A4A"/>
                </a:solidFill>
                <a:ea typeface="Geist" pitchFamily="34" charset="-122"/>
                <a:cs typeface="Geist" pitchFamily="34" charset="-120"/>
              </a:rPr>
              <a:t> seamless data retrieval</a:t>
            </a:r>
            <a:endParaRPr lang="en-US" sz="1600" dirty="0"/>
          </a:p>
        </p:txBody>
      </p:sp>
      <p:sp>
        <p:nvSpPr>
          <p:cNvPr id="23" name="Text 17"/>
          <p:cNvSpPr/>
          <p:nvPr/>
        </p:nvSpPr>
        <p:spPr>
          <a:xfrm>
            <a:off x="1468160" y="5328340"/>
            <a:ext cx="11693962" cy="1048068"/>
          </a:xfrm>
          <a:prstGeom prst="rect">
            <a:avLst/>
          </a:prstGeom>
          <a:noFill/>
          <a:ln/>
        </p:spPr>
        <p:txBody>
          <a:bodyPr wrap="square" lIns="0" tIns="0" rIns="0" bIns="0" rtlCol="0" anchor="t"/>
          <a:lstStyle/>
          <a:p>
            <a:pPr marL="0" indent="0" algn="l">
              <a:lnSpc>
                <a:spcPts val="2000"/>
              </a:lnSpc>
              <a:buNone/>
            </a:pPr>
            <a:r>
              <a:rPr lang="en-US" dirty="0">
                <a:solidFill>
                  <a:srgbClr val="4B4A4A"/>
                </a:solidFill>
                <a:ea typeface="Geist" pitchFamily="34" charset="-122"/>
                <a:cs typeface="Geist" pitchFamily="34" charset="-120"/>
              </a:rPr>
              <a:t>In order to analyze news content effectively, it was necessary to transform the data from unstructured text into a structured dataset suitable for tabular analysis. The system was configured to collect up to 200 news articles per day. This limitation was applied due to API constraints, as retrieving a larger volume of articles may prevent proper processing and analysis in a tabular format.</a:t>
            </a:r>
            <a:endParaRPr lang="en-US" dirty="0"/>
          </a:p>
        </p:txBody>
      </p:sp>
      <p:sp>
        <p:nvSpPr>
          <p:cNvPr id="24" name="Text 18"/>
          <p:cNvSpPr/>
          <p:nvPr/>
        </p:nvSpPr>
        <p:spPr>
          <a:xfrm>
            <a:off x="1468158" y="6500507"/>
            <a:ext cx="12473471" cy="1160901"/>
          </a:xfrm>
          <a:prstGeom prst="rect">
            <a:avLst/>
          </a:prstGeom>
          <a:noFill/>
          <a:ln/>
        </p:spPr>
        <p:txBody>
          <a:bodyPr wrap="square" lIns="0" tIns="0" rIns="0" bIns="0" rtlCol="0" anchor="t"/>
          <a:lstStyle/>
          <a:p>
            <a:pPr marL="0" indent="0" algn="l">
              <a:lnSpc>
                <a:spcPts val="2000"/>
              </a:lnSpc>
              <a:buNone/>
            </a:pPr>
            <a:r>
              <a:rPr lang="en-US" dirty="0">
                <a:solidFill>
                  <a:srgbClr val="4B4A4A"/>
                </a:solidFill>
                <a:ea typeface="Geist" pitchFamily="34" charset="-122"/>
                <a:cs typeface="Geist" pitchFamily="34" charset="-120"/>
              </a:rPr>
              <a:t>The extraction logic was implemented through custom code and integrated directly into Power BI using the Advanced Editor, allowing automated data retrieval and seamless integration with the dashboard for real-time analytical updates.</a:t>
            </a:r>
            <a:endParaRPr lang="en-US" dirty="0"/>
          </a:p>
        </p:txBody>
      </p:sp>
      <p:sp>
        <p:nvSpPr>
          <p:cNvPr id="25" name="Shape 19"/>
          <p:cNvSpPr/>
          <p:nvPr/>
        </p:nvSpPr>
        <p:spPr>
          <a:xfrm>
            <a:off x="1033939" y="7459188"/>
            <a:ext cx="434221" cy="303967"/>
          </a:xfrm>
          <a:prstGeom prst="roundRect">
            <a:avLst>
              <a:gd name="adj" fmla="val 38319"/>
            </a:avLst>
          </a:prstGeom>
          <a:solidFill>
            <a:srgbClr val="CCFFEF"/>
          </a:solidFill>
          <a:ln/>
        </p:spPr>
        <p:txBody>
          <a:bodyPr/>
          <a:lstStyle/>
          <a:p>
            <a:endParaRPr lang="en-US"/>
          </a:p>
        </p:txBody>
      </p:sp>
      <p:sp>
        <p:nvSpPr>
          <p:cNvPr id="26" name="Text 20"/>
          <p:cNvSpPr/>
          <p:nvPr/>
        </p:nvSpPr>
        <p:spPr>
          <a:xfrm>
            <a:off x="1130974" y="7533839"/>
            <a:ext cx="240149" cy="207050"/>
          </a:xfrm>
          <a:prstGeom prst="rect">
            <a:avLst/>
          </a:prstGeom>
          <a:noFill/>
          <a:ln/>
        </p:spPr>
        <p:txBody>
          <a:bodyPr wrap="none" lIns="0" tIns="0" rIns="0" bIns="0" rtlCol="0" anchor="t"/>
          <a:lstStyle/>
          <a:p>
            <a:pPr marL="0" indent="0" algn="l">
              <a:lnSpc>
                <a:spcPts val="1600"/>
              </a:lnSpc>
              <a:buNone/>
            </a:pPr>
            <a:r>
              <a:rPr lang="en-US" sz="1600" b="1" dirty="0">
                <a:solidFill>
                  <a:srgbClr val="4B4A4A"/>
                </a:solidFill>
                <a:ea typeface="Geist" pitchFamily="34" charset="-122"/>
                <a:cs typeface="Geist" pitchFamily="34" charset="-120"/>
              </a:rPr>
              <a:t>K&amp;J</a:t>
            </a:r>
            <a:endParaRPr lang="en-US" sz="16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81037"/>
          </a:xfrm>
          <a:prstGeom prst="rect">
            <a:avLst/>
          </a:prstGeom>
        </p:spPr>
      </p:pic>
      <p:sp>
        <p:nvSpPr>
          <p:cNvPr id="3" name="Text 0"/>
          <p:cNvSpPr/>
          <p:nvPr/>
        </p:nvSpPr>
        <p:spPr>
          <a:xfrm>
            <a:off x="3700701" y="2957331"/>
            <a:ext cx="6370320" cy="614482"/>
          </a:xfrm>
          <a:prstGeom prst="rect">
            <a:avLst/>
          </a:prstGeom>
          <a:noFill/>
          <a:ln/>
        </p:spPr>
        <p:txBody>
          <a:bodyPr wrap="none" lIns="0" tIns="0" rIns="0" bIns="0" rtlCol="0" anchor="t"/>
          <a:lstStyle/>
          <a:p>
            <a:pPr marL="0" indent="0" algn="ctr">
              <a:lnSpc>
                <a:spcPts val="4800"/>
              </a:lnSpc>
              <a:buNone/>
            </a:pPr>
            <a:r>
              <a:rPr lang="en-US" sz="4000" b="1" dirty="0">
                <a:solidFill>
                  <a:srgbClr val="006747"/>
                </a:solidFill>
                <a:ea typeface="Noto Serif SC Bold" pitchFamily="34" charset="-122"/>
                <a:cs typeface="Noto Serif SC Bold" pitchFamily="34" charset="-120"/>
              </a:rPr>
              <a:t>Data Model Relationships</a:t>
            </a:r>
            <a:endParaRPr lang="en-US" sz="4000" dirty="0"/>
          </a:p>
        </p:txBody>
      </p:sp>
      <p:sp>
        <p:nvSpPr>
          <p:cNvPr id="4" name="Text 1"/>
          <p:cNvSpPr/>
          <p:nvPr/>
        </p:nvSpPr>
        <p:spPr>
          <a:xfrm>
            <a:off x="705735" y="3917422"/>
            <a:ext cx="3595468" cy="326946"/>
          </a:xfrm>
          <a:prstGeom prst="rect">
            <a:avLst/>
          </a:prstGeom>
          <a:noFill/>
          <a:ln/>
        </p:spPr>
        <p:txBody>
          <a:bodyPr wrap="none" lIns="0" tIns="0" rIns="0" bIns="0" rtlCol="0" anchor="t"/>
          <a:lstStyle/>
          <a:p>
            <a:pPr marL="0" indent="0" algn="l">
              <a:lnSpc>
                <a:spcPts val="2400"/>
              </a:lnSpc>
              <a:buNone/>
            </a:pPr>
            <a:r>
              <a:rPr lang="en-US" sz="2000" b="1" dirty="0">
                <a:solidFill>
                  <a:srgbClr val="006747"/>
                </a:solidFill>
                <a:ea typeface="Noto Serif SC Bold" pitchFamily="34" charset="-122"/>
                <a:cs typeface="Noto Serif SC Bold" pitchFamily="34" charset="-120"/>
              </a:rPr>
              <a:t>Table Relationship</a:t>
            </a:r>
          </a:p>
          <a:p>
            <a:pPr marL="0" indent="0" algn="l">
              <a:lnSpc>
                <a:spcPts val="2400"/>
              </a:lnSpc>
              <a:buNone/>
            </a:pPr>
            <a:endParaRPr lang="en-US" sz="2000" dirty="0"/>
          </a:p>
        </p:txBody>
      </p:sp>
      <p:sp>
        <p:nvSpPr>
          <p:cNvPr id="5" name="Text 2"/>
          <p:cNvSpPr/>
          <p:nvPr/>
        </p:nvSpPr>
        <p:spPr>
          <a:xfrm>
            <a:off x="705735" y="4440941"/>
            <a:ext cx="5611892" cy="314682"/>
          </a:xfrm>
          <a:prstGeom prst="rect">
            <a:avLst/>
          </a:prstGeom>
          <a:noFill/>
          <a:ln/>
        </p:spPr>
        <p:txBody>
          <a:bodyPr wrap="none" lIns="0" tIns="0" rIns="0" bIns="0" rtlCol="0" anchor="t"/>
          <a:lstStyle/>
          <a:p>
            <a:pPr marL="0" indent="0" algn="l">
              <a:lnSpc>
                <a:spcPts val="2450"/>
              </a:lnSpc>
              <a:buNone/>
            </a:pPr>
            <a:r>
              <a:rPr lang="en-US" sz="2000" dirty="0">
                <a:solidFill>
                  <a:srgbClr val="4B4A4A"/>
                </a:solidFill>
                <a:ea typeface="Geist" pitchFamily="34" charset="-122"/>
                <a:cs typeface="Geist" pitchFamily="34" charset="-120"/>
              </a:rPr>
              <a:t>A relationship was created between two tables:</a:t>
            </a:r>
            <a:endParaRPr lang="en-US" sz="2000" dirty="0"/>
          </a:p>
        </p:txBody>
      </p:sp>
      <p:sp>
        <p:nvSpPr>
          <p:cNvPr id="6" name="Text 3"/>
          <p:cNvSpPr/>
          <p:nvPr/>
        </p:nvSpPr>
        <p:spPr>
          <a:xfrm>
            <a:off x="705735" y="4843328"/>
            <a:ext cx="5611892" cy="314682"/>
          </a:xfrm>
          <a:prstGeom prst="rect">
            <a:avLst/>
          </a:prstGeom>
          <a:noFill/>
          <a:ln/>
        </p:spPr>
        <p:txBody>
          <a:bodyPr wrap="none" lIns="0" tIns="0" rIns="0" bIns="0" rtlCol="0" anchor="t"/>
          <a:lstStyle/>
          <a:p>
            <a:pPr marL="342900" indent="-342900" algn="l">
              <a:lnSpc>
                <a:spcPts val="2450"/>
              </a:lnSpc>
              <a:buSzPct val="100000"/>
              <a:buChar char="•"/>
            </a:pPr>
            <a:r>
              <a:rPr lang="en-US" sz="2000" dirty="0">
                <a:solidFill>
                  <a:srgbClr val="4B4A4A"/>
                </a:solidFill>
                <a:ea typeface="Geist" pitchFamily="34" charset="-122"/>
                <a:cs typeface="Geist" pitchFamily="34" charset="-120"/>
              </a:rPr>
              <a:t>The </a:t>
            </a:r>
            <a:r>
              <a:rPr lang="en-US" sz="2000" b="1" dirty="0">
                <a:solidFill>
                  <a:srgbClr val="4B4A4A"/>
                </a:solidFill>
                <a:ea typeface="Geist" pitchFamily="34" charset="-122"/>
                <a:cs typeface="Geist" pitchFamily="34" charset="-120"/>
              </a:rPr>
              <a:t>Food System Impact table</a:t>
            </a:r>
            <a:endParaRPr lang="en-US" sz="2000" dirty="0"/>
          </a:p>
        </p:txBody>
      </p:sp>
      <p:sp>
        <p:nvSpPr>
          <p:cNvPr id="7" name="Text 4"/>
          <p:cNvSpPr/>
          <p:nvPr/>
        </p:nvSpPr>
        <p:spPr>
          <a:xfrm>
            <a:off x="705735" y="5259888"/>
            <a:ext cx="5611892" cy="629364"/>
          </a:xfrm>
          <a:prstGeom prst="rect">
            <a:avLst/>
          </a:prstGeom>
          <a:noFill/>
          <a:ln/>
        </p:spPr>
        <p:txBody>
          <a:bodyPr wrap="square" lIns="0" tIns="0" rIns="0" bIns="0" rtlCol="0" anchor="t"/>
          <a:lstStyle/>
          <a:p>
            <a:pPr marL="342900" indent="-342900" algn="l">
              <a:lnSpc>
                <a:spcPts val="2450"/>
              </a:lnSpc>
              <a:buSzPct val="100000"/>
              <a:buChar char="•"/>
            </a:pPr>
            <a:r>
              <a:rPr lang="en-US" sz="2000" dirty="0">
                <a:solidFill>
                  <a:srgbClr val="4B4A4A"/>
                </a:solidFill>
                <a:ea typeface="Geist" pitchFamily="34" charset="-122"/>
                <a:cs typeface="Geist" pitchFamily="34" charset="-120"/>
              </a:rPr>
              <a:t>The </a:t>
            </a:r>
            <a:r>
              <a:rPr lang="en-US" sz="2000" b="1" dirty="0">
                <a:solidFill>
                  <a:srgbClr val="4B4A4A"/>
                </a:solidFill>
                <a:ea typeface="Geist" pitchFamily="34" charset="-122"/>
                <a:cs typeface="Geist" pitchFamily="34" charset="-120"/>
              </a:rPr>
              <a:t>Al Jazeera News table</a:t>
            </a:r>
            <a:r>
              <a:rPr lang="en-US" sz="2000" dirty="0">
                <a:solidFill>
                  <a:srgbClr val="4B4A4A"/>
                </a:solidFill>
                <a:ea typeface="Geist" pitchFamily="34" charset="-122"/>
                <a:cs typeface="Geist" pitchFamily="34" charset="-120"/>
              </a:rPr>
              <a:t> containing approximately 18,000 articles</a:t>
            </a:r>
            <a:endParaRPr lang="en-US" sz="2000" dirty="0"/>
          </a:p>
        </p:txBody>
      </p:sp>
      <p:sp>
        <p:nvSpPr>
          <p:cNvPr id="8" name="Text 5"/>
          <p:cNvSpPr/>
          <p:nvPr/>
        </p:nvSpPr>
        <p:spPr>
          <a:xfrm>
            <a:off x="705735" y="5965372"/>
            <a:ext cx="5611892" cy="944047"/>
          </a:xfrm>
          <a:prstGeom prst="rect">
            <a:avLst/>
          </a:prstGeom>
          <a:noFill/>
          <a:ln/>
        </p:spPr>
        <p:txBody>
          <a:bodyPr wrap="square" lIns="0" tIns="0" rIns="0" bIns="0" rtlCol="0" anchor="t"/>
          <a:lstStyle/>
          <a:p>
            <a:pPr marL="0" indent="0" algn="l">
              <a:lnSpc>
                <a:spcPts val="2450"/>
              </a:lnSpc>
              <a:buNone/>
            </a:pPr>
            <a:r>
              <a:rPr lang="en-US" sz="2000" dirty="0">
                <a:solidFill>
                  <a:srgbClr val="4B4A4A"/>
                </a:solidFill>
                <a:ea typeface="Geist" pitchFamily="34" charset="-122"/>
                <a:cs typeface="Geist" pitchFamily="34" charset="-120"/>
              </a:rPr>
              <a:t>This relationship was established to enable cross-filtering functionality within the dashboard environment.</a:t>
            </a:r>
            <a:endParaRPr lang="en-US" sz="2000" dirty="0"/>
          </a:p>
        </p:txBody>
      </p:sp>
      <p:sp>
        <p:nvSpPr>
          <p:cNvPr id="9" name="Text 6"/>
          <p:cNvSpPr/>
          <p:nvPr/>
        </p:nvSpPr>
        <p:spPr>
          <a:xfrm>
            <a:off x="6885861" y="3937068"/>
            <a:ext cx="2514243" cy="307300"/>
          </a:xfrm>
          <a:prstGeom prst="rect">
            <a:avLst/>
          </a:prstGeom>
          <a:noFill/>
          <a:ln/>
        </p:spPr>
        <p:txBody>
          <a:bodyPr wrap="none" lIns="0" tIns="0" rIns="0" bIns="0" rtlCol="0" anchor="t"/>
          <a:lstStyle/>
          <a:p>
            <a:pPr marL="0" indent="0" algn="l">
              <a:lnSpc>
                <a:spcPts val="2400"/>
              </a:lnSpc>
              <a:buNone/>
            </a:pPr>
            <a:r>
              <a:rPr lang="en-US" sz="2000" b="1" dirty="0">
                <a:solidFill>
                  <a:srgbClr val="006747"/>
                </a:solidFill>
                <a:ea typeface="Noto Serif SC Bold" pitchFamily="34" charset="-122"/>
                <a:cs typeface="Noto Serif SC Bold" pitchFamily="34" charset="-120"/>
              </a:rPr>
              <a:t>Interactive Filtering</a:t>
            </a:r>
            <a:endParaRPr lang="en-US" sz="2000" dirty="0"/>
          </a:p>
        </p:txBody>
      </p:sp>
      <p:sp>
        <p:nvSpPr>
          <p:cNvPr id="10" name="Text 7"/>
          <p:cNvSpPr/>
          <p:nvPr/>
        </p:nvSpPr>
        <p:spPr>
          <a:xfrm>
            <a:off x="6885861" y="4351218"/>
            <a:ext cx="6965513" cy="944047"/>
          </a:xfrm>
          <a:prstGeom prst="rect">
            <a:avLst/>
          </a:prstGeom>
          <a:noFill/>
          <a:ln/>
        </p:spPr>
        <p:txBody>
          <a:bodyPr wrap="square" lIns="0" tIns="0" rIns="0" bIns="0" rtlCol="0" anchor="t"/>
          <a:lstStyle/>
          <a:p>
            <a:pPr marL="0" indent="0" algn="l">
              <a:lnSpc>
                <a:spcPts val="2450"/>
              </a:lnSpc>
              <a:buNone/>
            </a:pPr>
            <a:r>
              <a:rPr lang="en-US" sz="2000" dirty="0">
                <a:solidFill>
                  <a:srgbClr val="4B4A4A"/>
                </a:solidFill>
                <a:ea typeface="Geist" pitchFamily="34" charset="-122"/>
                <a:cs typeface="Geist" pitchFamily="34" charset="-120"/>
              </a:rPr>
              <a:t>When a user clicks on a specific date in the line chart, the dashboard automatically filters and displays the news articles published on that same day.</a:t>
            </a:r>
            <a:endParaRPr lang="en-US" sz="2000" dirty="0"/>
          </a:p>
        </p:txBody>
      </p:sp>
      <p:sp>
        <p:nvSpPr>
          <p:cNvPr id="11" name="Text 8"/>
          <p:cNvSpPr/>
          <p:nvPr/>
        </p:nvSpPr>
        <p:spPr>
          <a:xfrm>
            <a:off x="6885861" y="5574570"/>
            <a:ext cx="6965513" cy="1334849"/>
          </a:xfrm>
          <a:prstGeom prst="rect">
            <a:avLst/>
          </a:prstGeom>
          <a:noFill/>
          <a:ln/>
        </p:spPr>
        <p:txBody>
          <a:bodyPr wrap="square" lIns="0" tIns="0" rIns="0" bIns="0" rtlCol="0" anchor="t"/>
          <a:lstStyle/>
          <a:p>
            <a:pPr marL="0" indent="0" algn="l">
              <a:lnSpc>
                <a:spcPts val="2450"/>
              </a:lnSpc>
              <a:buNone/>
            </a:pPr>
            <a:r>
              <a:rPr lang="en-US" sz="2000" dirty="0">
                <a:solidFill>
                  <a:srgbClr val="4B4A4A"/>
                </a:solidFill>
                <a:ea typeface="Geist" pitchFamily="34" charset="-122"/>
                <a:cs typeface="Geist" pitchFamily="34" charset="-120"/>
              </a:rPr>
              <a:t>This functionality strengthens the linkage between quantitative temporal trends and qualitative media context, allowing analysts to understand both the statistical patterns and the narrative context of events simultaneously.</a:t>
            </a:r>
            <a:endParaRPr lang="en-US" sz="2000" dirty="0"/>
          </a:p>
        </p:txBody>
      </p:sp>
      <p:sp>
        <p:nvSpPr>
          <p:cNvPr id="12" name="Shape 9"/>
          <p:cNvSpPr/>
          <p:nvPr/>
        </p:nvSpPr>
        <p:spPr>
          <a:xfrm>
            <a:off x="786527" y="7318534"/>
            <a:ext cx="527923" cy="369451"/>
          </a:xfrm>
          <a:prstGeom prst="roundRect">
            <a:avLst>
              <a:gd name="adj" fmla="val 38325"/>
            </a:avLst>
          </a:prstGeom>
          <a:solidFill>
            <a:srgbClr val="CCFFEF"/>
          </a:solidFill>
          <a:ln/>
        </p:spPr>
        <p:txBody>
          <a:bodyPr/>
          <a:lstStyle/>
          <a:p>
            <a:endParaRPr lang="en-US"/>
          </a:p>
        </p:txBody>
      </p:sp>
      <p:sp>
        <p:nvSpPr>
          <p:cNvPr id="13" name="Text 10"/>
          <p:cNvSpPr/>
          <p:nvPr/>
        </p:nvSpPr>
        <p:spPr>
          <a:xfrm>
            <a:off x="904518" y="7377470"/>
            <a:ext cx="291941" cy="251579"/>
          </a:xfrm>
          <a:prstGeom prst="rect">
            <a:avLst/>
          </a:prstGeom>
          <a:noFill/>
          <a:ln/>
        </p:spPr>
        <p:txBody>
          <a:bodyPr wrap="none" lIns="0" tIns="0" rIns="0" bIns="0" rtlCol="0" anchor="t"/>
          <a:lstStyle/>
          <a:p>
            <a:pPr marL="0" indent="0" algn="l">
              <a:lnSpc>
                <a:spcPts val="1950"/>
              </a:lnSpc>
              <a:buNone/>
            </a:pPr>
            <a:r>
              <a:rPr lang="en-US" sz="2000" b="1" dirty="0">
                <a:solidFill>
                  <a:srgbClr val="4B4A4A"/>
                </a:solidFill>
                <a:ea typeface="Geist" pitchFamily="34" charset="-122"/>
                <a:cs typeface="Geist" pitchFamily="34" charset="-120"/>
              </a:rPr>
              <a:t>K&amp;J</a:t>
            </a:r>
            <a:endParaRPr lang="en-US"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03686" y="2536855"/>
            <a:ext cx="6704272" cy="2123658"/>
          </a:xfrm>
          <a:prstGeom prst="rect">
            <a:avLst/>
          </a:prstGeom>
          <a:noFill/>
        </p:spPr>
        <p:txBody>
          <a:bodyPr wrap="none" lIns="91440" tIns="45720" rIns="91440" bIns="45720">
            <a:spAutoFit/>
          </a:bodyPr>
          <a:lstStyle/>
          <a:p>
            <a:pPr algn="ctr"/>
            <a:r>
              <a:rPr lang="en-GB" sz="6600" b="1" dirty="0">
                <a:ln w="0"/>
                <a:solidFill>
                  <a:srgbClr val="006747"/>
                </a:solidFill>
              </a:rPr>
              <a:t>Dashboard </a:t>
            </a:r>
          </a:p>
          <a:p>
            <a:pPr algn="ctr"/>
            <a:r>
              <a:rPr lang="en-GB" sz="6600" b="1" cap="none" spc="0" dirty="0">
                <a:ln w="0"/>
                <a:solidFill>
                  <a:srgbClr val="006747"/>
                </a:solidFill>
              </a:rPr>
              <a:t>Education Systems</a:t>
            </a:r>
            <a:endParaRPr lang="en-US" sz="6600" b="1" cap="none" spc="0" dirty="0">
              <a:ln w="0"/>
              <a:solidFill>
                <a:srgbClr val="006747"/>
              </a:solidFill>
            </a:endParaRPr>
          </a:p>
        </p:txBody>
      </p:sp>
    </p:spTree>
    <p:extLst>
      <p:ext uri="{BB962C8B-B14F-4D97-AF65-F5344CB8AC3E}">
        <p14:creationId xmlns:p14="http://schemas.microsoft.com/office/powerpoint/2010/main" val="4220123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8244" y="185230"/>
            <a:ext cx="12844826" cy="810244"/>
          </a:xfrm>
          <a:prstGeom prst="rect">
            <a:avLst/>
          </a:prstGeom>
          <a:noFill/>
          <a:ln/>
        </p:spPr>
        <p:txBody>
          <a:bodyPr wrap="square" lIns="0" tIns="0" rIns="0" bIns="0" rtlCol="0" anchor="t"/>
          <a:lstStyle/>
          <a:p>
            <a:pPr marL="0" indent="0" algn="ctr">
              <a:lnSpc>
                <a:spcPts val="4850"/>
              </a:lnSpc>
              <a:buNone/>
            </a:pPr>
            <a:r>
              <a:rPr lang="en-US" sz="4000" b="1" dirty="0">
                <a:solidFill>
                  <a:srgbClr val="006747"/>
                </a:solidFill>
                <a:ea typeface="Noto Serif SC Bold" pitchFamily="34" charset="-122"/>
                <a:cs typeface="Noto Serif SC Bold" pitchFamily="34" charset="-120"/>
              </a:rPr>
              <a:t>Education Incidents and Facility Impact in Gaza (2020–2024)</a:t>
            </a:r>
            <a:endParaRPr lang="en-US" sz="4000" dirty="0"/>
          </a:p>
        </p:txBody>
      </p:sp>
      <p:sp>
        <p:nvSpPr>
          <p:cNvPr id="3" name="Text 1"/>
          <p:cNvSpPr/>
          <p:nvPr/>
        </p:nvSpPr>
        <p:spPr>
          <a:xfrm>
            <a:off x="597175" y="4880872"/>
            <a:ext cx="13042821" cy="952619"/>
          </a:xfrm>
          <a:prstGeom prst="rect">
            <a:avLst/>
          </a:prstGeom>
          <a:noFill/>
          <a:ln/>
        </p:spPr>
        <p:txBody>
          <a:bodyPr wrap="square" lIns="0" tIns="0" rIns="0" bIns="0" rtlCol="0" anchor="t"/>
          <a:lstStyle/>
          <a:p>
            <a:pPr marL="0" indent="0" algn="l">
              <a:lnSpc>
                <a:spcPts val="2500"/>
              </a:lnSpc>
              <a:buNone/>
            </a:pPr>
            <a:r>
              <a:rPr lang="en-US" sz="1600" dirty="0">
                <a:solidFill>
                  <a:srgbClr val="4B4A4A"/>
                </a:solidFill>
                <a:ea typeface="Geist" pitchFamily="34" charset="-122"/>
                <a:cs typeface="Geist" pitchFamily="34" charset="-120"/>
              </a:rPr>
              <a:t>This section analyzes the impact of armed conflict on the education sector in Gaza during the period from 2020 to 2024. The analysis examines education-related incidents in terms of the total number of incidents, the type of educational facilities affected (schools and universities), and their temporal distribution.</a:t>
            </a:r>
            <a:endParaRPr lang="en-US" sz="1600" dirty="0"/>
          </a:p>
        </p:txBody>
      </p:sp>
      <p:sp>
        <p:nvSpPr>
          <p:cNvPr id="4" name="Shape 2"/>
          <p:cNvSpPr/>
          <p:nvPr/>
        </p:nvSpPr>
        <p:spPr>
          <a:xfrm>
            <a:off x="598538" y="5965163"/>
            <a:ext cx="4084794" cy="1981487"/>
          </a:xfrm>
          <a:prstGeom prst="roundRect">
            <a:avLst>
              <a:gd name="adj" fmla="val 7263"/>
            </a:avLst>
          </a:prstGeom>
          <a:solidFill>
            <a:srgbClr val="E5F9F2">
              <a:alpha val="95000"/>
            </a:srgbClr>
          </a:solidFill>
          <a:ln w="22860">
            <a:solidFill>
              <a:srgbClr val="006747"/>
            </a:solidFill>
            <a:prstDash val="solid"/>
          </a:ln>
        </p:spPr>
        <p:txBody>
          <a:bodyPr/>
          <a:lstStyle/>
          <a:p>
            <a:endParaRPr lang="en-US"/>
          </a:p>
        </p:txBody>
      </p:sp>
      <p:sp>
        <p:nvSpPr>
          <p:cNvPr id="5" name="Text 3"/>
          <p:cNvSpPr/>
          <p:nvPr/>
        </p:nvSpPr>
        <p:spPr>
          <a:xfrm>
            <a:off x="668244" y="5951400"/>
            <a:ext cx="2499717" cy="310158"/>
          </a:xfrm>
          <a:prstGeom prst="rect">
            <a:avLst/>
          </a:prstGeom>
          <a:noFill/>
          <a:ln/>
        </p:spPr>
        <p:txBody>
          <a:bodyPr wrap="none" lIns="0" tIns="0" rIns="0" bIns="0" rtlCol="0" anchor="t"/>
          <a:lstStyle/>
          <a:p>
            <a:pPr marL="0" indent="0" algn="l">
              <a:lnSpc>
                <a:spcPts val="2400"/>
              </a:lnSpc>
              <a:buNone/>
            </a:pPr>
            <a:r>
              <a:rPr lang="en-US" sz="1600" b="1" dirty="0">
                <a:solidFill>
                  <a:srgbClr val="4B4A4A"/>
                </a:solidFill>
                <a:ea typeface="Noto Serif SC Bold" pitchFamily="34" charset="-122"/>
                <a:cs typeface="Noto Serif SC Bold" pitchFamily="34" charset="-120"/>
              </a:rPr>
              <a:t>KPI Cards Overview</a:t>
            </a:r>
            <a:endParaRPr lang="en-US" sz="1600" dirty="0"/>
          </a:p>
        </p:txBody>
      </p:sp>
      <p:sp>
        <p:nvSpPr>
          <p:cNvPr id="6" name="Text 4"/>
          <p:cNvSpPr/>
          <p:nvPr/>
        </p:nvSpPr>
        <p:spPr>
          <a:xfrm>
            <a:off x="668244" y="6255350"/>
            <a:ext cx="3772853" cy="1270159"/>
          </a:xfrm>
          <a:prstGeom prst="rect">
            <a:avLst/>
          </a:prstGeom>
          <a:noFill/>
          <a:ln/>
        </p:spPr>
        <p:txBody>
          <a:bodyPr wrap="square" lIns="0" tIns="0" rIns="0" bIns="0" rtlCol="0" anchor="t"/>
          <a:lstStyle/>
          <a:p>
            <a:pPr marL="0" indent="0" algn="l">
              <a:lnSpc>
                <a:spcPts val="2500"/>
              </a:lnSpc>
              <a:buNone/>
            </a:pPr>
            <a:r>
              <a:rPr lang="en-US" sz="1600" dirty="0">
                <a:solidFill>
                  <a:srgbClr val="4B4A4A"/>
                </a:solidFill>
                <a:ea typeface="Geist" pitchFamily="34" charset="-122"/>
                <a:cs typeface="Geist" pitchFamily="34" charset="-120"/>
              </a:rPr>
              <a:t>KPI Cards were used to highlight the most important columns and key indicators, providing a high-level overview of the education incidents data.</a:t>
            </a:r>
            <a:endParaRPr lang="en-US" sz="1600" dirty="0"/>
          </a:p>
        </p:txBody>
      </p:sp>
      <p:sp>
        <p:nvSpPr>
          <p:cNvPr id="7" name="Shape 5"/>
          <p:cNvSpPr/>
          <p:nvPr/>
        </p:nvSpPr>
        <p:spPr>
          <a:xfrm>
            <a:off x="5156212" y="5951401"/>
            <a:ext cx="3868890" cy="1995250"/>
          </a:xfrm>
          <a:prstGeom prst="roundRect">
            <a:avLst>
              <a:gd name="adj" fmla="val 7263"/>
            </a:avLst>
          </a:prstGeom>
          <a:solidFill>
            <a:srgbClr val="E5F9F2">
              <a:alpha val="95000"/>
            </a:srgbClr>
          </a:solidFill>
          <a:ln w="22860">
            <a:solidFill>
              <a:srgbClr val="006747"/>
            </a:solidFill>
            <a:prstDash val="solid"/>
          </a:ln>
        </p:spPr>
        <p:txBody>
          <a:bodyPr/>
          <a:lstStyle/>
          <a:p>
            <a:endParaRPr lang="en-US"/>
          </a:p>
        </p:txBody>
      </p:sp>
      <p:sp>
        <p:nvSpPr>
          <p:cNvPr id="8" name="Text 6"/>
          <p:cNvSpPr/>
          <p:nvPr/>
        </p:nvSpPr>
        <p:spPr>
          <a:xfrm>
            <a:off x="5194564" y="5988787"/>
            <a:ext cx="2731294" cy="310158"/>
          </a:xfrm>
          <a:prstGeom prst="rect">
            <a:avLst/>
          </a:prstGeom>
          <a:noFill/>
          <a:ln/>
        </p:spPr>
        <p:txBody>
          <a:bodyPr wrap="none" lIns="0" tIns="0" rIns="0" bIns="0" rtlCol="0" anchor="t"/>
          <a:lstStyle/>
          <a:p>
            <a:pPr marL="0" indent="0" algn="l">
              <a:lnSpc>
                <a:spcPts val="2400"/>
              </a:lnSpc>
              <a:buNone/>
            </a:pPr>
            <a:r>
              <a:rPr lang="en-US" sz="1600" b="1" dirty="0">
                <a:solidFill>
                  <a:srgbClr val="4B4A4A"/>
                </a:solidFill>
                <a:ea typeface="Noto Serif SC Bold" pitchFamily="34" charset="-122"/>
                <a:cs typeface="Noto Serif SC Bold" pitchFamily="34" charset="-120"/>
              </a:rPr>
              <a:t>Facility Type Analysis</a:t>
            </a:r>
            <a:endParaRPr lang="en-US" sz="1600" dirty="0"/>
          </a:p>
        </p:txBody>
      </p:sp>
      <p:sp>
        <p:nvSpPr>
          <p:cNvPr id="9" name="Text 7"/>
          <p:cNvSpPr/>
          <p:nvPr/>
        </p:nvSpPr>
        <p:spPr>
          <a:xfrm>
            <a:off x="5232099" y="6306794"/>
            <a:ext cx="3772972" cy="1587698"/>
          </a:xfrm>
          <a:prstGeom prst="rect">
            <a:avLst/>
          </a:prstGeom>
          <a:noFill/>
          <a:ln/>
        </p:spPr>
        <p:txBody>
          <a:bodyPr wrap="square" lIns="0" tIns="0" rIns="0" bIns="0" rtlCol="0" anchor="t"/>
          <a:lstStyle/>
          <a:p>
            <a:pPr marL="0" indent="0" algn="l">
              <a:lnSpc>
                <a:spcPts val="2500"/>
              </a:lnSpc>
              <a:buNone/>
            </a:pPr>
            <a:r>
              <a:rPr lang="en-US" sz="1600" dirty="0">
                <a:solidFill>
                  <a:srgbClr val="4B4A4A"/>
                </a:solidFill>
                <a:ea typeface="Geist" pitchFamily="34" charset="-122"/>
                <a:cs typeface="Geist" pitchFamily="34" charset="-120"/>
              </a:rPr>
              <a:t>The analysis of total incidents by education facility type shows that </a:t>
            </a:r>
            <a:r>
              <a:rPr lang="en-US" sz="1600" b="1" dirty="0">
                <a:solidFill>
                  <a:srgbClr val="4B4A4A"/>
                </a:solidFill>
                <a:ea typeface="Geist" pitchFamily="34" charset="-122"/>
                <a:cs typeface="Geist" pitchFamily="34" charset="-120"/>
              </a:rPr>
              <a:t>schools were the most heavily targeted</a:t>
            </a:r>
            <a:r>
              <a:rPr lang="en-US" sz="1600" dirty="0">
                <a:solidFill>
                  <a:srgbClr val="4B4A4A"/>
                </a:solidFill>
                <a:ea typeface="Geist" pitchFamily="34" charset="-122"/>
                <a:cs typeface="Geist" pitchFamily="34" charset="-120"/>
              </a:rPr>
              <a:t>, indicating the severe impact of conflict on school-level education.</a:t>
            </a:r>
            <a:endParaRPr lang="en-US" sz="1600" dirty="0"/>
          </a:p>
        </p:txBody>
      </p:sp>
      <p:sp>
        <p:nvSpPr>
          <p:cNvPr id="10" name="Shape 8"/>
          <p:cNvSpPr/>
          <p:nvPr/>
        </p:nvSpPr>
        <p:spPr>
          <a:xfrm>
            <a:off x="9497982" y="5941265"/>
            <a:ext cx="4112955" cy="1995250"/>
          </a:xfrm>
          <a:prstGeom prst="roundRect">
            <a:avLst>
              <a:gd name="adj" fmla="val 7263"/>
            </a:avLst>
          </a:prstGeom>
          <a:solidFill>
            <a:srgbClr val="E5F9F2">
              <a:alpha val="95000"/>
            </a:srgbClr>
          </a:solidFill>
          <a:ln w="22860">
            <a:solidFill>
              <a:srgbClr val="006747"/>
            </a:solidFill>
            <a:prstDash val="solid"/>
          </a:ln>
        </p:spPr>
        <p:txBody>
          <a:bodyPr/>
          <a:lstStyle/>
          <a:p>
            <a:endParaRPr lang="en-US"/>
          </a:p>
        </p:txBody>
      </p:sp>
      <p:sp>
        <p:nvSpPr>
          <p:cNvPr id="11" name="Text 9"/>
          <p:cNvSpPr/>
          <p:nvPr/>
        </p:nvSpPr>
        <p:spPr>
          <a:xfrm>
            <a:off x="9571555" y="5988787"/>
            <a:ext cx="3240048" cy="310158"/>
          </a:xfrm>
          <a:prstGeom prst="rect">
            <a:avLst/>
          </a:prstGeom>
          <a:noFill/>
          <a:ln/>
        </p:spPr>
        <p:txBody>
          <a:bodyPr wrap="none" lIns="0" tIns="0" rIns="0" bIns="0" rtlCol="0" anchor="t"/>
          <a:lstStyle/>
          <a:p>
            <a:pPr marL="0" indent="0" algn="l">
              <a:lnSpc>
                <a:spcPts val="2400"/>
              </a:lnSpc>
              <a:buNone/>
            </a:pPr>
            <a:r>
              <a:rPr lang="en-US" sz="1600" b="1" dirty="0">
                <a:solidFill>
                  <a:srgbClr val="4B4A4A"/>
                </a:solidFill>
                <a:ea typeface="Noto Serif SC Bold" pitchFamily="34" charset="-122"/>
                <a:cs typeface="Noto Serif SC Bold" pitchFamily="34" charset="-120"/>
              </a:rPr>
              <a:t>Enhanced Spatial Context</a:t>
            </a:r>
            <a:endParaRPr lang="en-US" sz="1600" dirty="0"/>
          </a:p>
        </p:txBody>
      </p:sp>
      <p:sp>
        <p:nvSpPr>
          <p:cNvPr id="12" name="Text 10"/>
          <p:cNvSpPr/>
          <p:nvPr/>
        </p:nvSpPr>
        <p:spPr>
          <a:xfrm>
            <a:off x="9571555" y="6261558"/>
            <a:ext cx="3772853" cy="1587698"/>
          </a:xfrm>
          <a:prstGeom prst="rect">
            <a:avLst/>
          </a:prstGeom>
          <a:noFill/>
          <a:ln/>
        </p:spPr>
        <p:txBody>
          <a:bodyPr wrap="square" lIns="0" tIns="0" rIns="0" bIns="0" rtlCol="0" anchor="t"/>
          <a:lstStyle/>
          <a:p>
            <a:pPr marL="0" indent="0" algn="l">
              <a:lnSpc>
                <a:spcPts val="2500"/>
              </a:lnSpc>
              <a:buNone/>
            </a:pPr>
            <a:r>
              <a:rPr lang="en-US" sz="1600" dirty="0">
                <a:solidFill>
                  <a:srgbClr val="4B4A4A"/>
                </a:solidFill>
                <a:ea typeface="Geist" pitchFamily="34" charset="-122"/>
                <a:cs typeface="Geist" pitchFamily="34" charset="-120"/>
              </a:rPr>
              <a:t>A tooltip was added to display the affected area and the count of event IDs, representing the number of recorded incidents at each location and enhancing the spatial interpretation of the data.</a:t>
            </a:r>
            <a:endParaRPr lang="en-US" sz="1600" dirty="0"/>
          </a:p>
        </p:txBody>
      </p:sp>
      <p:sp>
        <p:nvSpPr>
          <p:cNvPr id="13" name="Shape 11"/>
          <p:cNvSpPr/>
          <p:nvPr/>
        </p:nvSpPr>
        <p:spPr>
          <a:xfrm>
            <a:off x="83445" y="7899696"/>
            <a:ext cx="385525" cy="261122"/>
          </a:xfrm>
          <a:prstGeom prst="roundRect">
            <a:avLst>
              <a:gd name="adj" fmla="val 38297"/>
            </a:avLst>
          </a:prstGeom>
          <a:solidFill>
            <a:srgbClr val="CCFFEF"/>
          </a:solidFill>
          <a:ln/>
        </p:spPr>
        <p:txBody>
          <a:bodyPr/>
          <a:lstStyle/>
          <a:p>
            <a:endParaRPr lang="en-US"/>
          </a:p>
        </p:txBody>
      </p:sp>
      <p:sp>
        <p:nvSpPr>
          <p:cNvPr id="14" name="Text 12"/>
          <p:cNvSpPr/>
          <p:nvPr/>
        </p:nvSpPr>
        <p:spPr>
          <a:xfrm>
            <a:off x="174171" y="7860051"/>
            <a:ext cx="294799" cy="254079"/>
          </a:xfrm>
          <a:prstGeom prst="rect">
            <a:avLst/>
          </a:prstGeom>
          <a:noFill/>
          <a:ln/>
        </p:spPr>
        <p:txBody>
          <a:bodyPr wrap="none" lIns="0" tIns="0" rIns="0" bIns="0" rtlCol="0" anchor="t"/>
          <a:lstStyle/>
          <a:p>
            <a:pPr marL="0" indent="0" algn="l">
              <a:lnSpc>
                <a:spcPts val="2000"/>
              </a:lnSpc>
              <a:buNone/>
            </a:pPr>
            <a:r>
              <a:rPr lang="en-US" sz="1600" b="1" dirty="0">
                <a:solidFill>
                  <a:srgbClr val="4B4A4A"/>
                </a:solidFill>
                <a:ea typeface="Geist" pitchFamily="34" charset="-122"/>
                <a:cs typeface="Geist" pitchFamily="34" charset="-120"/>
              </a:rPr>
              <a:t>K&amp;J</a:t>
            </a:r>
            <a:endParaRPr lang="en-US" sz="1600" b="1" dirty="0"/>
          </a:p>
        </p:txBody>
      </p:sp>
      <p:pic>
        <p:nvPicPr>
          <p:cNvPr id="15" name="drawing"/>
          <p:cNvPicPr/>
          <p:nvPr/>
        </p:nvPicPr>
        <p:blipFill>
          <a:blip r:embed="rId3">
            <a:extLst>
              <a:ext uri="{28A0092B-C50C-407E-A947-70E740481C1C}">
                <a14:useLocalDpi xmlns:a14="http://schemas.microsoft.com/office/drawing/2010/main"/>
              </a:ext>
            </a:extLst>
          </a:blip>
          <a:stretch>
            <a:fillRect/>
          </a:stretch>
        </p:blipFill>
        <p:spPr>
          <a:xfrm>
            <a:off x="597176" y="955168"/>
            <a:ext cx="13013762" cy="39059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78590" y="725730"/>
            <a:ext cx="8658968" cy="1240155"/>
          </a:xfrm>
          <a:prstGeom prst="rect">
            <a:avLst/>
          </a:prstGeom>
          <a:noFill/>
          <a:ln/>
        </p:spPr>
        <p:txBody>
          <a:bodyPr wrap="square" lIns="0" tIns="0" rIns="0" bIns="0" rtlCol="0" anchor="t"/>
          <a:lstStyle/>
          <a:p>
            <a:pPr marL="0" indent="0" algn="ctr">
              <a:lnSpc>
                <a:spcPts val="4850"/>
              </a:lnSpc>
              <a:buNone/>
            </a:pPr>
            <a:r>
              <a:rPr lang="en-US" sz="3600" b="1" dirty="0">
                <a:solidFill>
                  <a:srgbClr val="006747"/>
                </a:solidFill>
                <a:latin typeface="Noto Serif SC Bold" pitchFamily="34" charset="0"/>
                <a:ea typeface="Noto Serif SC Bold" pitchFamily="34" charset="-122"/>
                <a:cs typeface="Noto Serif SC Bold" pitchFamily="34" charset="-120"/>
              </a:rPr>
              <a:t>Temporal Trends in Education-Related Incidents</a:t>
            </a:r>
            <a:endParaRPr lang="en-US" sz="3600" dirty="0"/>
          </a:p>
        </p:txBody>
      </p:sp>
      <p:sp>
        <p:nvSpPr>
          <p:cNvPr id="4" name="Text 1"/>
          <p:cNvSpPr/>
          <p:nvPr/>
        </p:nvSpPr>
        <p:spPr>
          <a:xfrm>
            <a:off x="6266319" y="2509004"/>
            <a:ext cx="3536156" cy="620316"/>
          </a:xfrm>
          <a:prstGeom prst="rect">
            <a:avLst/>
          </a:prstGeom>
          <a:noFill/>
          <a:ln/>
        </p:spPr>
        <p:txBody>
          <a:bodyPr wrap="squar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Monthly Distribution Analysis</a:t>
            </a:r>
            <a:endParaRPr lang="en-US" dirty="0"/>
          </a:p>
        </p:txBody>
      </p:sp>
      <p:sp>
        <p:nvSpPr>
          <p:cNvPr id="5" name="Text 2"/>
          <p:cNvSpPr/>
          <p:nvPr/>
        </p:nvSpPr>
        <p:spPr>
          <a:xfrm>
            <a:off x="6266319" y="3017520"/>
            <a:ext cx="3536156" cy="1880002"/>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The total incidents by month visualization illustrates how education-related incidents are distributed across different months throughout the study period.</a:t>
            </a:r>
            <a:endParaRPr lang="en-US" dirty="0"/>
          </a:p>
        </p:txBody>
      </p:sp>
      <p:sp>
        <p:nvSpPr>
          <p:cNvPr id="6" name="Text 3"/>
          <p:cNvSpPr/>
          <p:nvPr/>
        </p:nvSpPr>
        <p:spPr>
          <a:xfrm>
            <a:off x="6280190" y="5093970"/>
            <a:ext cx="3536156" cy="158769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This chart enables the identification of periods with increased disruption to the education sector, revealing patterns of systematic targeting during specific timeframes.</a:t>
            </a:r>
            <a:endParaRPr lang="en-US" dirty="0"/>
          </a:p>
        </p:txBody>
      </p:sp>
      <p:sp>
        <p:nvSpPr>
          <p:cNvPr id="7" name="Text 4"/>
          <p:cNvSpPr/>
          <p:nvPr/>
        </p:nvSpPr>
        <p:spPr>
          <a:xfrm>
            <a:off x="10308074" y="2509004"/>
            <a:ext cx="2951321"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Contextual Enrichment</a:t>
            </a:r>
            <a:endParaRPr lang="en-US" dirty="0"/>
          </a:p>
        </p:txBody>
      </p:sp>
      <p:sp>
        <p:nvSpPr>
          <p:cNvPr id="8" name="Text 5"/>
          <p:cNvSpPr/>
          <p:nvPr/>
        </p:nvSpPr>
        <p:spPr>
          <a:xfrm>
            <a:off x="10308074" y="3017520"/>
            <a:ext cx="3536156" cy="158769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To enrich the analysis, a tooltip containing a data description was incorporated, providing contextual explanations of the key events that occurred during each month.</a:t>
            </a:r>
            <a:endParaRPr lang="en-US" dirty="0"/>
          </a:p>
        </p:txBody>
      </p:sp>
      <p:sp>
        <p:nvSpPr>
          <p:cNvPr id="9" name="Text 6"/>
          <p:cNvSpPr/>
          <p:nvPr/>
        </p:nvSpPr>
        <p:spPr>
          <a:xfrm>
            <a:off x="10335816" y="5093970"/>
            <a:ext cx="3536156" cy="1897856"/>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This supports a deeper understanding of the observed temporal patterns and connects statistical trends with documented real-world events affecting educational institutions.</a:t>
            </a:r>
            <a:endParaRPr lang="en-US" dirty="0"/>
          </a:p>
        </p:txBody>
      </p:sp>
      <p:sp>
        <p:nvSpPr>
          <p:cNvPr id="10" name="Shape 7"/>
          <p:cNvSpPr/>
          <p:nvPr/>
        </p:nvSpPr>
        <p:spPr>
          <a:xfrm>
            <a:off x="4475141" y="7689145"/>
            <a:ext cx="532924" cy="373142"/>
          </a:xfrm>
          <a:prstGeom prst="roundRect">
            <a:avLst>
              <a:gd name="adj" fmla="val 38297"/>
            </a:avLst>
          </a:prstGeom>
          <a:solidFill>
            <a:srgbClr val="CCFFEF"/>
          </a:solidFill>
          <a:ln/>
        </p:spPr>
        <p:txBody>
          <a:bodyPr/>
          <a:lstStyle/>
          <a:p>
            <a:endParaRPr lang="en-US"/>
          </a:p>
        </p:txBody>
      </p:sp>
      <p:sp>
        <p:nvSpPr>
          <p:cNvPr id="11" name="Text 8"/>
          <p:cNvSpPr/>
          <p:nvPr/>
        </p:nvSpPr>
        <p:spPr>
          <a:xfrm>
            <a:off x="4594203" y="7748677"/>
            <a:ext cx="294799" cy="254079"/>
          </a:xfrm>
          <a:prstGeom prst="rect">
            <a:avLst/>
          </a:prstGeom>
          <a:noFill/>
          <a:ln/>
        </p:spPr>
        <p:txBody>
          <a:bodyPr wrap="none" lIns="0" tIns="0" rIns="0" bIns="0" rtlCol="0" anchor="t"/>
          <a:lstStyle/>
          <a:p>
            <a:pPr marL="0" indent="0" algn="l">
              <a:lnSpc>
                <a:spcPts val="2000"/>
              </a:lnSpc>
              <a:buNone/>
            </a:pPr>
            <a:r>
              <a:rPr lang="en-US" b="1" dirty="0">
                <a:solidFill>
                  <a:srgbClr val="4B4A4A"/>
                </a:solidFill>
                <a:latin typeface="Geist" pitchFamily="34" charset="0"/>
                <a:ea typeface="Geist" pitchFamily="34" charset="-122"/>
                <a:cs typeface="Geist" pitchFamily="34" charset="-120"/>
              </a:rPr>
              <a:t>K&amp;J</a:t>
            </a:r>
            <a:endParaRPr lang="en-US"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805394" y="492647"/>
            <a:ext cx="8177346" cy="562332"/>
          </a:xfrm>
          <a:prstGeom prst="rect">
            <a:avLst/>
          </a:prstGeom>
          <a:noFill/>
          <a:ln/>
        </p:spPr>
        <p:txBody>
          <a:bodyPr wrap="none" lIns="0" tIns="0" rIns="0" bIns="0" rtlCol="0" anchor="t"/>
          <a:lstStyle/>
          <a:p>
            <a:pPr marL="0" indent="0" algn="ctr">
              <a:lnSpc>
                <a:spcPts val="4400"/>
              </a:lnSpc>
              <a:buNone/>
            </a:pPr>
            <a:r>
              <a:rPr lang="en-US" sz="4000" b="1" dirty="0">
                <a:solidFill>
                  <a:srgbClr val="006747"/>
                </a:solidFill>
                <a:ea typeface="Noto Serif SC Bold" pitchFamily="34" charset="-122"/>
                <a:cs typeface="Noto Serif SC Bold" pitchFamily="34" charset="-120"/>
              </a:rPr>
              <a:t>Human Impact and Escalation Trends</a:t>
            </a:r>
            <a:endParaRPr lang="en-US" sz="4000" dirty="0"/>
          </a:p>
        </p:txBody>
      </p:sp>
      <p:sp>
        <p:nvSpPr>
          <p:cNvPr id="3" name="Text 1"/>
          <p:cNvSpPr/>
          <p:nvPr/>
        </p:nvSpPr>
        <p:spPr>
          <a:xfrm>
            <a:off x="1796653" y="2586752"/>
            <a:ext cx="2213610" cy="449937"/>
          </a:xfrm>
          <a:prstGeom prst="rect">
            <a:avLst/>
          </a:prstGeom>
          <a:noFill/>
          <a:ln/>
        </p:spPr>
        <p:txBody>
          <a:bodyPr wrap="none" lIns="0" tIns="0" rIns="0" bIns="0" rtlCol="0" anchor="t"/>
          <a:lstStyle/>
          <a:p>
            <a:pPr marL="0" indent="0" algn="ctr">
              <a:lnSpc>
                <a:spcPts val="3500"/>
              </a:lnSpc>
              <a:buNone/>
            </a:pPr>
            <a:r>
              <a:rPr lang="en-US" sz="1600" b="1" dirty="0">
                <a:solidFill>
                  <a:srgbClr val="4B4A4A"/>
                </a:solidFill>
                <a:ea typeface="Noto Serif SC Bold" pitchFamily="34" charset="-122"/>
                <a:cs typeface="Noto Serif SC Bold" pitchFamily="34" charset="-120"/>
              </a:rPr>
              <a:t>40%</a:t>
            </a:r>
            <a:endParaRPr lang="en-US" sz="1600" dirty="0"/>
          </a:p>
        </p:txBody>
      </p:sp>
      <p:pic>
        <p:nvPicPr>
          <p:cNvPr id="4" name="Image 0" descr="preencoded.png"/>
          <p:cNvPicPr>
            <a:picLocks noChangeAspect="1"/>
          </p:cNvPicPr>
          <p:nvPr/>
        </p:nvPicPr>
        <p:blipFill>
          <a:blip r:embed="rId3"/>
          <a:stretch>
            <a:fillRect/>
          </a:stretch>
        </p:blipFill>
        <p:spPr>
          <a:xfrm>
            <a:off x="1553766" y="1461968"/>
            <a:ext cx="2699623" cy="2699623"/>
          </a:xfrm>
          <a:prstGeom prst="rect">
            <a:avLst/>
          </a:prstGeom>
        </p:spPr>
      </p:pic>
      <p:sp>
        <p:nvSpPr>
          <p:cNvPr id="5" name="Text 2"/>
          <p:cNvSpPr/>
          <p:nvPr/>
        </p:nvSpPr>
        <p:spPr>
          <a:xfrm>
            <a:off x="1778794" y="4386382"/>
            <a:ext cx="2249686" cy="281226"/>
          </a:xfrm>
          <a:prstGeom prst="rect">
            <a:avLst/>
          </a:prstGeom>
          <a:noFill/>
          <a:ln/>
        </p:spPr>
        <p:txBody>
          <a:bodyPr wrap="none" lIns="0" tIns="0" rIns="0" bIns="0" rtlCol="0" anchor="t"/>
          <a:lstStyle/>
          <a:p>
            <a:pPr marL="0" indent="0" algn="ctr">
              <a:lnSpc>
                <a:spcPts val="2200"/>
              </a:lnSpc>
              <a:buNone/>
            </a:pPr>
            <a:r>
              <a:rPr lang="en-US" sz="1600" b="1" dirty="0">
                <a:solidFill>
                  <a:srgbClr val="4B4A4A"/>
                </a:solidFill>
                <a:ea typeface="Noto Serif SC Bold" pitchFamily="34" charset="-122"/>
                <a:cs typeface="Noto Serif SC Bold" pitchFamily="34" charset="-120"/>
              </a:rPr>
              <a:t>Students Killed</a:t>
            </a:r>
            <a:endParaRPr lang="en-US" sz="1600" dirty="0"/>
          </a:p>
        </p:txBody>
      </p:sp>
      <p:sp>
        <p:nvSpPr>
          <p:cNvPr id="6" name="Text 3"/>
          <p:cNvSpPr/>
          <p:nvPr/>
        </p:nvSpPr>
        <p:spPr>
          <a:xfrm>
            <a:off x="810339" y="4775478"/>
            <a:ext cx="4186595" cy="576024"/>
          </a:xfrm>
          <a:prstGeom prst="rect">
            <a:avLst/>
          </a:prstGeom>
          <a:noFill/>
          <a:ln/>
        </p:spPr>
        <p:txBody>
          <a:bodyPr wrap="square" lIns="0" tIns="0" rIns="0" bIns="0" rtlCol="0" anchor="t"/>
          <a:lstStyle/>
          <a:p>
            <a:pPr marL="0" indent="0" algn="ctr">
              <a:lnSpc>
                <a:spcPts val="2250"/>
              </a:lnSpc>
              <a:buNone/>
            </a:pPr>
            <a:r>
              <a:rPr lang="en-US" sz="1600" dirty="0">
                <a:solidFill>
                  <a:srgbClr val="4B4A4A"/>
                </a:solidFill>
                <a:ea typeface="Geist" pitchFamily="34" charset="-122"/>
                <a:cs typeface="Geist" pitchFamily="34" charset="-120"/>
              </a:rPr>
              <a:t>Percentage of student casualties in education-related incidents</a:t>
            </a:r>
            <a:endParaRPr lang="en-US" sz="1600" dirty="0"/>
          </a:p>
        </p:txBody>
      </p:sp>
      <p:sp>
        <p:nvSpPr>
          <p:cNvPr id="7" name="Text 4"/>
          <p:cNvSpPr/>
          <p:nvPr/>
        </p:nvSpPr>
        <p:spPr>
          <a:xfrm>
            <a:off x="6208157" y="2586752"/>
            <a:ext cx="2213610" cy="449937"/>
          </a:xfrm>
          <a:prstGeom prst="rect">
            <a:avLst/>
          </a:prstGeom>
          <a:noFill/>
          <a:ln/>
        </p:spPr>
        <p:txBody>
          <a:bodyPr wrap="none" lIns="0" tIns="0" rIns="0" bIns="0" rtlCol="0" anchor="t"/>
          <a:lstStyle/>
          <a:p>
            <a:pPr marL="0" indent="0" algn="ctr">
              <a:lnSpc>
                <a:spcPts val="3500"/>
              </a:lnSpc>
              <a:buNone/>
            </a:pPr>
            <a:r>
              <a:rPr lang="en-US" sz="1600" b="1" dirty="0">
                <a:solidFill>
                  <a:srgbClr val="4B4A4A"/>
                </a:solidFill>
                <a:ea typeface="Noto Serif SC Bold" pitchFamily="34" charset="-122"/>
                <a:cs typeface="Noto Serif SC Bold" pitchFamily="34" charset="-120"/>
              </a:rPr>
              <a:t>35%</a:t>
            </a:r>
            <a:endParaRPr lang="en-US" sz="1600" dirty="0"/>
          </a:p>
        </p:txBody>
      </p:sp>
      <p:pic>
        <p:nvPicPr>
          <p:cNvPr id="8" name="Image 1" descr="preencoded.png"/>
          <p:cNvPicPr>
            <a:picLocks noChangeAspect="1"/>
          </p:cNvPicPr>
          <p:nvPr/>
        </p:nvPicPr>
        <p:blipFill>
          <a:blip r:embed="rId4"/>
          <a:stretch>
            <a:fillRect/>
          </a:stretch>
        </p:blipFill>
        <p:spPr>
          <a:xfrm>
            <a:off x="5965269" y="1461968"/>
            <a:ext cx="2699623" cy="2699623"/>
          </a:xfrm>
          <a:prstGeom prst="rect">
            <a:avLst/>
          </a:prstGeom>
        </p:spPr>
      </p:pic>
      <p:sp>
        <p:nvSpPr>
          <p:cNvPr id="9" name="Text 5"/>
          <p:cNvSpPr/>
          <p:nvPr/>
        </p:nvSpPr>
        <p:spPr>
          <a:xfrm>
            <a:off x="6208157" y="4386382"/>
            <a:ext cx="2249686" cy="281226"/>
          </a:xfrm>
          <a:prstGeom prst="rect">
            <a:avLst/>
          </a:prstGeom>
          <a:noFill/>
          <a:ln/>
        </p:spPr>
        <p:txBody>
          <a:bodyPr wrap="none" lIns="0" tIns="0" rIns="0" bIns="0" rtlCol="0" anchor="t"/>
          <a:lstStyle/>
          <a:p>
            <a:pPr marL="0" indent="0" algn="ctr">
              <a:lnSpc>
                <a:spcPts val="2200"/>
              </a:lnSpc>
              <a:buNone/>
            </a:pPr>
            <a:r>
              <a:rPr lang="en-US" sz="1600" b="1" dirty="0">
                <a:solidFill>
                  <a:srgbClr val="4B4A4A"/>
                </a:solidFill>
                <a:ea typeface="Noto Serif SC Bold" pitchFamily="34" charset="-122"/>
                <a:cs typeface="Noto Serif SC Bold" pitchFamily="34" charset="-120"/>
              </a:rPr>
              <a:t>Students Injured</a:t>
            </a:r>
            <a:endParaRPr lang="en-US" sz="1600" dirty="0"/>
          </a:p>
        </p:txBody>
      </p:sp>
      <p:sp>
        <p:nvSpPr>
          <p:cNvPr id="10" name="Text 6"/>
          <p:cNvSpPr/>
          <p:nvPr/>
        </p:nvSpPr>
        <p:spPr>
          <a:xfrm>
            <a:off x="5221843" y="4775478"/>
            <a:ext cx="4186595" cy="576024"/>
          </a:xfrm>
          <a:prstGeom prst="rect">
            <a:avLst/>
          </a:prstGeom>
          <a:noFill/>
          <a:ln/>
        </p:spPr>
        <p:txBody>
          <a:bodyPr wrap="square" lIns="0" tIns="0" rIns="0" bIns="0" rtlCol="0" anchor="t"/>
          <a:lstStyle/>
          <a:p>
            <a:pPr marL="0" indent="0" algn="ctr">
              <a:lnSpc>
                <a:spcPts val="2250"/>
              </a:lnSpc>
              <a:buNone/>
            </a:pPr>
            <a:r>
              <a:rPr lang="en-US" sz="1600" dirty="0">
                <a:solidFill>
                  <a:srgbClr val="4B4A4A"/>
                </a:solidFill>
                <a:ea typeface="Geist" pitchFamily="34" charset="-122"/>
                <a:cs typeface="Geist" pitchFamily="34" charset="-120"/>
              </a:rPr>
              <a:t>Proportion of students wounded during attacks on educational facilities</a:t>
            </a:r>
            <a:endParaRPr lang="en-US" sz="1600" dirty="0"/>
          </a:p>
        </p:txBody>
      </p:sp>
      <p:sp>
        <p:nvSpPr>
          <p:cNvPr id="11" name="Text 7"/>
          <p:cNvSpPr/>
          <p:nvPr/>
        </p:nvSpPr>
        <p:spPr>
          <a:xfrm>
            <a:off x="10619661" y="2586752"/>
            <a:ext cx="2213610" cy="449937"/>
          </a:xfrm>
          <a:prstGeom prst="rect">
            <a:avLst/>
          </a:prstGeom>
          <a:noFill/>
          <a:ln/>
        </p:spPr>
        <p:txBody>
          <a:bodyPr wrap="none" lIns="0" tIns="0" rIns="0" bIns="0" rtlCol="0" anchor="t"/>
          <a:lstStyle/>
          <a:p>
            <a:pPr marL="0" indent="0" algn="ctr">
              <a:lnSpc>
                <a:spcPts val="3500"/>
              </a:lnSpc>
              <a:buNone/>
            </a:pPr>
            <a:r>
              <a:rPr lang="en-US" sz="1600" b="1" dirty="0">
                <a:solidFill>
                  <a:srgbClr val="4B4A4A"/>
                </a:solidFill>
                <a:ea typeface="Noto Serif SC Bold" pitchFamily="34" charset="-122"/>
                <a:cs typeface="Noto Serif SC Bold" pitchFamily="34" charset="-120"/>
              </a:rPr>
              <a:t>25%</a:t>
            </a:r>
            <a:endParaRPr lang="en-US" sz="1600" dirty="0"/>
          </a:p>
        </p:txBody>
      </p:sp>
      <p:pic>
        <p:nvPicPr>
          <p:cNvPr id="12" name="Image 2" descr="preencoded.png"/>
          <p:cNvPicPr>
            <a:picLocks noChangeAspect="1"/>
          </p:cNvPicPr>
          <p:nvPr/>
        </p:nvPicPr>
        <p:blipFill>
          <a:blip r:embed="rId5"/>
          <a:stretch>
            <a:fillRect/>
          </a:stretch>
        </p:blipFill>
        <p:spPr>
          <a:xfrm>
            <a:off x="10376773" y="1461968"/>
            <a:ext cx="2699623" cy="2699623"/>
          </a:xfrm>
          <a:prstGeom prst="rect">
            <a:avLst/>
          </a:prstGeom>
        </p:spPr>
      </p:pic>
      <p:sp>
        <p:nvSpPr>
          <p:cNvPr id="13" name="Text 8"/>
          <p:cNvSpPr/>
          <p:nvPr/>
        </p:nvSpPr>
        <p:spPr>
          <a:xfrm>
            <a:off x="10601801" y="4386382"/>
            <a:ext cx="2249686" cy="281226"/>
          </a:xfrm>
          <a:prstGeom prst="rect">
            <a:avLst/>
          </a:prstGeom>
          <a:noFill/>
          <a:ln/>
        </p:spPr>
        <p:txBody>
          <a:bodyPr wrap="none" lIns="0" tIns="0" rIns="0" bIns="0" rtlCol="0" anchor="t"/>
          <a:lstStyle/>
          <a:p>
            <a:pPr marL="0" indent="0" algn="ctr">
              <a:lnSpc>
                <a:spcPts val="2200"/>
              </a:lnSpc>
              <a:buNone/>
            </a:pPr>
            <a:r>
              <a:rPr lang="en-US" sz="1600" b="1" dirty="0">
                <a:solidFill>
                  <a:srgbClr val="4B4A4A"/>
                </a:solidFill>
                <a:ea typeface="Noto Serif SC Bold" pitchFamily="34" charset="-122"/>
                <a:cs typeface="Noto Serif SC Bold" pitchFamily="34" charset="-120"/>
              </a:rPr>
              <a:t>Students Arrested</a:t>
            </a:r>
            <a:endParaRPr lang="en-US" sz="1600" dirty="0"/>
          </a:p>
        </p:txBody>
      </p:sp>
      <p:sp>
        <p:nvSpPr>
          <p:cNvPr id="14" name="Text 9"/>
          <p:cNvSpPr/>
          <p:nvPr/>
        </p:nvSpPr>
        <p:spPr>
          <a:xfrm>
            <a:off x="9633347" y="4775478"/>
            <a:ext cx="4186595" cy="576024"/>
          </a:xfrm>
          <a:prstGeom prst="rect">
            <a:avLst/>
          </a:prstGeom>
          <a:noFill/>
          <a:ln/>
        </p:spPr>
        <p:txBody>
          <a:bodyPr wrap="square" lIns="0" tIns="0" rIns="0" bIns="0" rtlCol="0" anchor="t"/>
          <a:lstStyle/>
          <a:p>
            <a:pPr marL="0" indent="0" algn="ctr">
              <a:lnSpc>
                <a:spcPts val="2250"/>
              </a:lnSpc>
              <a:buNone/>
            </a:pPr>
            <a:r>
              <a:rPr lang="en-US" sz="1600" dirty="0">
                <a:solidFill>
                  <a:srgbClr val="4B4A4A"/>
                </a:solidFill>
                <a:ea typeface="Geist" pitchFamily="34" charset="-122"/>
                <a:cs typeface="Geist" pitchFamily="34" charset="-120"/>
              </a:rPr>
              <a:t>Share of students detained in education-related incidents</a:t>
            </a:r>
            <a:endParaRPr lang="en-US" sz="1600" dirty="0"/>
          </a:p>
        </p:txBody>
      </p:sp>
      <p:sp>
        <p:nvSpPr>
          <p:cNvPr id="15" name="Text 10"/>
          <p:cNvSpPr/>
          <p:nvPr/>
        </p:nvSpPr>
        <p:spPr>
          <a:xfrm>
            <a:off x="810339" y="5677377"/>
            <a:ext cx="13009721" cy="576024"/>
          </a:xfrm>
          <a:prstGeom prst="rect">
            <a:avLst/>
          </a:prstGeom>
          <a:noFill/>
          <a:ln/>
        </p:spPr>
        <p:txBody>
          <a:bodyPr wrap="square" lIns="0" tIns="0" rIns="0" bIns="0" rtlCol="0" anchor="t"/>
          <a:lstStyle/>
          <a:p>
            <a:pPr marL="0" indent="0" algn="l">
              <a:lnSpc>
                <a:spcPts val="2250"/>
              </a:lnSpc>
              <a:buNone/>
            </a:pPr>
            <a:r>
              <a:rPr lang="en-US" sz="1600" dirty="0">
                <a:solidFill>
                  <a:srgbClr val="4B4A4A"/>
                </a:solidFill>
                <a:ea typeface="Geist" pitchFamily="34" charset="-122"/>
                <a:cs typeface="Geist" pitchFamily="34" charset="-120"/>
              </a:rPr>
              <a:t>Donut and pie charts were used to visualize the impact of conflict on students and educators, categorizing incidents into killed, injured, and arrested. These visualizations clearly illustrate both the severity and type of harm experienced by each group.</a:t>
            </a:r>
            <a:endParaRPr lang="en-US" sz="1600" dirty="0"/>
          </a:p>
        </p:txBody>
      </p:sp>
      <p:sp>
        <p:nvSpPr>
          <p:cNvPr id="16" name="Text 11"/>
          <p:cNvSpPr/>
          <p:nvPr/>
        </p:nvSpPr>
        <p:spPr>
          <a:xfrm>
            <a:off x="810101" y="6484297"/>
            <a:ext cx="13009721" cy="864037"/>
          </a:xfrm>
          <a:prstGeom prst="rect">
            <a:avLst/>
          </a:prstGeom>
          <a:noFill/>
          <a:ln/>
        </p:spPr>
        <p:txBody>
          <a:bodyPr wrap="square" lIns="0" tIns="0" rIns="0" bIns="0" rtlCol="0" anchor="t"/>
          <a:lstStyle/>
          <a:p>
            <a:pPr marL="0" indent="0" algn="l">
              <a:lnSpc>
                <a:spcPts val="2250"/>
              </a:lnSpc>
              <a:buNone/>
            </a:pPr>
            <a:r>
              <a:rPr lang="en-US" sz="1600" dirty="0">
                <a:solidFill>
                  <a:srgbClr val="4B4A4A"/>
                </a:solidFill>
                <a:ea typeface="Geist" pitchFamily="34" charset="-122"/>
                <a:cs typeface="Geist" pitchFamily="34" charset="-120"/>
              </a:rPr>
              <a:t>Finally, a line chart was used to link education-related datasets over time. The chart reveals a </a:t>
            </a:r>
            <a:r>
              <a:rPr lang="en-US" sz="1600" b="1" dirty="0">
                <a:solidFill>
                  <a:srgbClr val="4B4A4A"/>
                </a:solidFill>
                <a:ea typeface="Geist" pitchFamily="34" charset="-122"/>
                <a:cs typeface="Geist" pitchFamily="34" charset="-120"/>
              </a:rPr>
              <a:t>clear escalation in incidents during the period from 2023 to 2024</a:t>
            </a:r>
            <a:r>
              <a:rPr lang="en-US" sz="1600" dirty="0">
                <a:solidFill>
                  <a:srgbClr val="4B4A4A"/>
                </a:solidFill>
                <a:ea typeface="Geist" pitchFamily="34" charset="-122"/>
                <a:cs typeface="Geist" pitchFamily="34" charset="-120"/>
              </a:rPr>
              <a:t>, highlighting a significant increase in conflict-related impacts on the education sector and reinforcing the overall trend of intensifying disruption to educational infrastructure and personnel.</a:t>
            </a:r>
            <a:endParaRPr lang="en-US" sz="1600" dirty="0"/>
          </a:p>
        </p:txBody>
      </p:sp>
      <p:sp>
        <p:nvSpPr>
          <p:cNvPr id="17" name="Shape 12"/>
          <p:cNvSpPr/>
          <p:nvPr/>
        </p:nvSpPr>
        <p:spPr>
          <a:xfrm>
            <a:off x="327422" y="7600210"/>
            <a:ext cx="482917" cy="338138"/>
          </a:xfrm>
          <a:prstGeom prst="roundRect">
            <a:avLst>
              <a:gd name="adj" fmla="val 38323"/>
            </a:avLst>
          </a:prstGeom>
          <a:solidFill>
            <a:srgbClr val="CCFFEF"/>
          </a:solidFill>
          <a:ln/>
        </p:spPr>
        <p:txBody>
          <a:bodyPr/>
          <a:lstStyle/>
          <a:p>
            <a:endParaRPr lang="en-US"/>
          </a:p>
        </p:txBody>
      </p:sp>
      <p:sp>
        <p:nvSpPr>
          <p:cNvPr id="18" name="Text 13"/>
          <p:cNvSpPr/>
          <p:nvPr/>
        </p:nvSpPr>
        <p:spPr>
          <a:xfrm>
            <a:off x="500588" y="7666020"/>
            <a:ext cx="97150" cy="111866"/>
          </a:xfrm>
          <a:prstGeom prst="rect">
            <a:avLst/>
          </a:prstGeom>
          <a:noFill/>
          <a:ln/>
        </p:spPr>
        <p:txBody>
          <a:bodyPr wrap="none" lIns="0" tIns="0" rIns="0" bIns="0" rtlCol="0" anchor="t"/>
          <a:lstStyle/>
          <a:p>
            <a:pPr marL="0" indent="0" algn="l">
              <a:lnSpc>
                <a:spcPts val="1800"/>
              </a:lnSpc>
              <a:buNone/>
            </a:pPr>
            <a:r>
              <a:rPr lang="en-US" sz="1600" b="1" dirty="0">
                <a:solidFill>
                  <a:srgbClr val="4B4A4A"/>
                </a:solidFill>
                <a:ea typeface="Geist" pitchFamily="34" charset="-122"/>
                <a:cs typeface="Geist" pitchFamily="34" charset="-120"/>
              </a:rPr>
              <a:t>K&amp;J</a:t>
            </a:r>
            <a:endParaRPr lang="en-US" sz="16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95598" y="2999992"/>
            <a:ext cx="6449201" cy="1107996"/>
          </a:xfrm>
          <a:prstGeom prst="rect">
            <a:avLst/>
          </a:prstGeom>
          <a:noFill/>
        </p:spPr>
        <p:txBody>
          <a:bodyPr wrap="none" lIns="91440" tIns="45720" rIns="91440" bIns="45720">
            <a:spAutoFit/>
          </a:bodyPr>
          <a:lstStyle/>
          <a:p>
            <a:pPr algn="ctr"/>
            <a:r>
              <a:rPr lang="en-GB" sz="6600" b="1" dirty="0">
                <a:ln w="0"/>
                <a:solidFill>
                  <a:srgbClr val="006747"/>
                </a:solidFill>
              </a:rPr>
              <a:t>Machine Learning</a:t>
            </a:r>
            <a:endParaRPr lang="en-US" sz="6600" b="1" cap="none" spc="0" dirty="0">
              <a:ln w="0"/>
              <a:solidFill>
                <a:srgbClr val="006747"/>
              </a:solidFill>
            </a:endParaRPr>
          </a:p>
        </p:txBody>
      </p:sp>
    </p:spTree>
    <p:extLst>
      <p:ext uri="{BB962C8B-B14F-4D97-AF65-F5344CB8AC3E}">
        <p14:creationId xmlns:p14="http://schemas.microsoft.com/office/powerpoint/2010/main" val="362873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394460" y="356592"/>
            <a:ext cx="11741348" cy="543163"/>
          </a:xfrm>
          <a:prstGeom prst="rect">
            <a:avLst/>
          </a:prstGeom>
          <a:noFill/>
          <a:ln/>
        </p:spPr>
        <p:txBody>
          <a:bodyPr wrap="none" lIns="0" tIns="0" rIns="0" bIns="0" rtlCol="0" anchor="t"/>
          <a:lstStyle/>
          <a:p>
            <a:pPr marL="0" indent="0" algn="ctr">
              <a:lnSpc>
                <a:spcPts val="4250"/>
              </a:lnSpc>
              <a:buNone/>
            </a:pPr>
            <a:r>
              <a:rPr lang="en-US" sz="4000" b="1" dirty="0">
                <a:solidFill>
                  <a:srgbClr val="006747"/>
                </a:solidFill>
                <a:ea typeface="Noto Serif SC Bold" pitchFamily="34" charset="-122"/>
                <a:cs typeface="Noto Serif SC Bold" pitchFamily="34" charset="-120"/>
              </a:rPr>
              <a:t>Motivation for Machine Learning and Data Collection</a:t>
            </a:r>
            <a:endParaRPr lang="en-US" sz="4000" dirty="0"/>
          </a:p>
        </p:txBody>
      </p:sp>
      <p:sp>
        <p:nvSpPr>
          <p:cNvPr id="3" name="Shape 1"/>
          <p:cNvSpPr/>
          <p:nvPr/>
        </p:nvSpPr>
        <p:spPr>
          <a:xfrm>
            <a:off x="1031915" y="3408283"/>
            <a:ext cx="12566571" cy="22860"/>
          </a:xfrm>
          <a:prstGeom prst="roundRect">
            <a:avLst>
              <a:gd name="adj" fmla="val 684432"/>
            </a:avLst>
          </a:prstGeom>
          <a:solidFill>
            <a:srgbClr val="4C773C"/>
          </a:solidFill>
          <a:ln/>
        </p:spPr>
        <p:txBody>
          <a:bodyPr/>
          <a:lstStyle/>
          <a:p>
            <a:endParaRPr lang="en-US"/>
          </a:p>
        </p:txBody>
      </p:sp>
      <p:sp>
        <p:nvSpPr>
          <p:cNvPr id="4" name="Shape 2"/>
          <p:cNvSpPr/>
          <p:nvPr/>
        </p:nvSpPr>
        <p:spPr>
          <a:xfrm>
            <a:off x="4107656" y="2886849"/>
            <a:ext cx="22860" cy="521494"/>
          </a:xfrm>
          <a:prstGeom prst="roundRect">
            <a:avLst>
              <a:gd name="adj" fmla="val 684432"/>
            </a:avLst>
          </a:prstGeom>
          <a:solidFill>
            <a:srgbClr val="4C773C"/>
          </a:solidFill>
          <a:ln/>
        </p:spPr>
        <p:txBody>
          <a:bodyPr/>
          <a:lstStyle/>
          <a:p>
            <a:endParaRPr lang="en-US"/>
          </a:p>
        </p:txBody>
      </p:sp>
      <p:sp>
        <p:nvSpPr>
          <p:cNvPr id="5" name="Shape 3"/>
          <p:cNvSpPr/>
          <p:nvPr/>
        </p:nvSpPr>
        <p:spPr>
          <a:xfrm>
            <a:off x="3923586" y="3212723"/>
            <a:ext cx="391120" cy="391120"/>
          </a:xfrm>
          <a:prstGeom prst="roundRect">
            <a:avLst>
              <a:gd name="adj" fmla="val 40003"/>
            </a:avLst>
          </a:prstGeom>
          <a:solidFill>
            <a:srgbClr val="335E23"/>
          </a:solidFill>
          <a:ln w="7620">
            <a:solidFill>
              <a:srgbClr val="4C773C"/>
            </a:solidFill>
            <a:prstDash val="solid"/>
          </a:ln>
        </p:spPr>
        <p:txBody>
          <a:bodyPr/>
          <a:lstStyle/>
          <a:p>
            <a:endParaRPr lang="en-US"/>
          </a:p>
        </p:txBody>
      </p:sp>
      <p:sp>
        <p:nvSpPr>
          <p:cNvPr id="6" name="Text 4"/>
          <p:cNvSpPr/>
          <p:nvPr/>
        </p:nvSpPr>
        <p:spPr>
          <a:xfrm>
            <a:off x="3988713" y="3245287"/>
            <a:ext cx="260747" cy="325874"/>
          </a:xfrm>
          <a:prstGeom prst="rect">
            <a:avLst/>
          </a:prstGeom>
          <a:noFill/>
          <a:ln/>
        </p:spPr>
        <p:txBody>
          <a:bodyPr wrap="none" lIns="0" tIns="0" rIns="0" bIns="0" rtlCol="0" anchor="t"/>
          <a:lstStyle/>
          <a:p>
            <a:pPr marL="0" indent="0" algn="ctr">
              <a:lnSpc>
                <a:spcPts val="2050"/>
              </a:lnSpc>
              <a:buNone/>
            </a:pPr>
            <a:r>
              <a:rPr lang="en-US" sz="1600" b="1" dirty="0">
                <a:solidFill>
                  <a:srgbClr val="FFFFFF"/>
                </a:solidFill>
                <a:ea typeface="Noto Serif SC Bold" pitchFamily="34" charset="-122"/>
                <a:cs typeface="Noto Serif SC Bold" pitchFamily="34" charset="-120"/>
              </a:rPr>
              <a:t>1</a:t>
            </a:r>
            <a:endParaRPr lang="en-US" sz="1600" dirty="0"/>
          </a:p>
        </p:txBody>
      </p:sp>
      <p:sp>
        <p:nvSpPr>
          <p:cNvPr id="7" name="Text 5"/>
          <p:cNvSpPr/>
          <p:nvPr/>
        </p:nvSpPr>
        <p:spPr>
          <a:xfrm>
            <a:off x="2776061" y="1780818"/>
            <a:ext cx="2686288" cy="271582"/>
          </a:xfrm>
          <a:prstGeom prst="rect">
            <a:avLst/>
          </a:prstGeom>
          <a:noFill/>
          <a:ln/>
        </p:spPr>
        <p:txBody>
          <a:bodyPr wrap="none" lIns="0" tIns="0" rIns="0" bIns="0" rtlCol="0" anchor="t"/>
          <a:lstStyle/>
          <a:p>
            <a:pPr marL="0" indent="0" algn="ctr">
              <a:lnSpc>
                <a:spcPts val="2100"/>
              </a:lnSpc>
              <a:buNone/>
            </a:pPr>
            <a:r>
              <a:rPr lang="en-US" sz="1600" b="1" dirty="0">
                <a:solidFill>
                  <a:srgbClr val="4B4A4A"/>
                </a:solidFill>
                <a:ea typeface="Noto Serif SC Bold" pitchFamily="34" charset="-122"/>
                <a:cs typeface="Noto Serif SC Bold" pitchFamily="34" charset="-120"/>
              </a:rPr>
              <a:t>Challenge Identification</a:t>
            </a:r>
            <a:endParaRPr lang="en-US" sz="1600" dirty="0"/>
          </a:p>
        </p:txBody>
      </p:sp>
      <p:sp>
        <p:nvSpPr>
          <p:cNvPr id="8" name="Text 6"/>
          <p:cNvSpPr/>
          <p:nvPr/>
        </p:nvSpPr>
        <p:spPr>
          <a:xfrm>
            <a:off x="1205746" y="2156698"/>
            <a:ext cx="5826919" cy="556260"/>
          </a:xfrm>
          <a:prstGeom prst="rect">
            <a:avLst/>
          </a:prstGeom>
          <a:noFill/>
          <a:ln/>
        </p:spPr>
        <p:txBody>
          <a:bodyPr wrap="square" lIns="0" tIns="0" rIns="0" bIns="0" rtlCol="0" anchor="t"/>
          <a:lstStyle/>
          <a:p>
            <a:pPr marL="0" indent="0" algn="ctr">
              <a:lnSpc>
                <a:spcPts val="2150"/>
              </a:lnSpc>
              <a:buNone/>
            </a:pPr>
            <a:r>
              <a:rPr lang="en-US" sz="1600" dirty="0">
                <a:solidFill>
                  <a:srgbClr val="4B4A4A"/>
                </a:solidFill>
                <a:ea typeface="Geist" pitchFamily="34" charset="-122"/>
                <a:cs typeface="Geist" pitchFamily="34" charset="-120"/>
              </a:rPr>
              <a:t>Power BI filtering limitations with large volumes of unstructured news data</a:t>
            </a:r>
            <a:endParaRPr lang="en-US" sz="1600" dirty="0"/>
          </a:p>
        </p:txBody>
      </p:sp>
      <p:sp>
        <p:nvSpPr>
          <p:cNvPr id="9" name="Shape 7"/>
          <p:cNvSpPr/>
          <p:nvPr/>
        </p:nvSpPr>
        <p:spPr>
          <a:xfrm>
            <a:off x="7303532" y="3408224"/>
            <a:ext cx="22860" cy="521494"/>
          </a:xfrm>
          <a:prstGeom prst="roundRect">
            <a:avLst>
              <a:gd name="adj" fmla="val 684432"/>
            </a:avLst>
          </a:prstGeom>
          <a:solidFill>
            <a:srgbClr val="4C773C"/>
          </a:solidFill>
          <a:ln/>
        </p:spPr>
        <p:txBody>
          <a:bodyPr/>
          <a:lstStyle/>
          <a:p>
            <a:endParaRPr lang="en-US"/>
          </a:p>
        </p:txBody>
      </p:sp>
      <p:sp>
        <p:nvSpPr>
          <p:cNvPr id="10" name="Shape 8"/>
          <p:cNvSpPr/>
          <p:nvPr/>
        </p:nvSpPr>
        <p:spPr>
          <a:xfrm>
            <a:off x="7119461" y="3212723"/>
            <a:ext cx="391120" cy="391120"/>
          </a:xfrm>
          <a:prstGeom prst="roundRect">
            <a:avLst>
              <a:gd name="adj" fmla="val 40003"/>
            </a:avLst>
          </a:prstGeom>
          <a:solidFill>
            <a:srgbClr val="335E23"/>
          </a:solidFill>
          <a:ln w="7620">
            <a:solidFill>
              <a:srgbClr val="4C773C"/>
            </a:solidFill>
            <a:prstDash val="solid"/>
          </a:ln>
        </p:spPr>
        <p:txBody>
          <a:bodyPr/>
          <a:lstStyle/>
          <a:p>
            <a:endParaRPr lang="en-US"/>
          </a:p>
        </p:txBody>
      </p:sp>
      <p:sp>
        <p:nvSpPr>
          <p:cNvPr id="11" name="Text 9"/>
          <p:cNvSpPr/>
          <p:nvPr/>
        </p:nvSpPr>
        <p:spPr>
          <a:xfrm>
            <a:off x="7184588" y="3245287"/>
            <a:ext cx="260747" cy="325874"/>
          </a:xfrm>
          <a:prstGeom prst="rect">
            <a:avLst/>
          </a:prstGeom>
          <a:noFill/>
          <a:ln/>
        </p:spPr>
        <p:txBody>
          <a:bodyPr wrap="none" lIns="0" tIns="0" rIns="0" bIns="0" rtlCol="0" anchor="t"/>
          <a:lstStyle/>
          <a:p>
            <a:pPr marL="0" indent="0" algn="ctr">
              <a:lnSpc>
                <a:spcPts val="2050"/>
              </a:lnSpc>
              <a:buNone/>
            </a:pPr>
            <a:r>
              <a:rPr lang="en-US" sz="1600" b="1" dirty="0">
                <a:solidFill>
                  <a:srgbClr val="FFFFFF"/>
                </a:solidFill>
                <a:ea typeface="Noto Serif SC Bold" pitchFamily="34" charset="-122"/>
                <a:cs typeface="Noto Serif SC Bold" pitchFamily="34" charset="-120"/>
              </a:rPr>
              <a:t>2</a:t>
            </a:r>
            <a:endParaRPr lang="en-US" sz="1600" dirty="0"/>
          </a:p>
        </p:txBody>
      </p:sp>
      <p:sp>
        <p:nvSpPr>
          <p:cNvPr id="12" name="Text 10"/>
          <p:cNvSpPr/>
          <p:nvPr/>
        </p:nvSpPr>
        <p:spPr>
          <a:xfrm>
            <a:off x="6228636" y="4103608"/>
            <a:ext cx="2173010" cy="271582"/>
          </a:xfrm>
          <a:prstGeom prst="rect">
            <a:avLst/>
          </a:prstGeom>
          <a:noFill/>
          <a:ln/>
        </p:spPr>
        <p:txBody>
          <a:bodyPr wrap="none" lIns="0" tIns="0" rIns="0" bIns="0" rtlCol="0" anchor="t"/>
          <a:lstStyle/>
          <a:p>
            <a:pPr marL="0" indent="0" algn="ctr">
              <a:lnSpc>
                <a:spcPts val="2100"/>
              </a:lnSpc>
              <a:buNone/>
            </a:pPr>
            <a:r>
              <a:rPr lang="en-US" sz="1600" b="1" dirty="0">
                <a:solidFill>
                  <a:srgbClr val="4B4A4A"/>
                </a:solidFill>
                <a:ea typeface="Noto Serif SC Bold" pitchFamily="34" charset="-122"/>
                <a:cs typeface="Noto Serif SC Bold" pitchFamily="34" charset="-120"/>
              </a:rPr>
              <a:t>ML Objective</a:t>
            </a:r>
            <a:endParaRPr lang="en-US" sz="1600" dirty="0"/>
          </a:p>
        </p:txBody>
      </p:sp>
      <p:sp>
        <p:nvSpPr>
          <p:cNvPr id="13" name="Text 11"/>
          <p:cNvSpPr/>
          <p:nvPr/>
        </p:nvSpPr>
        <p:spPr>
          <a:xfrm>
            <a:off x="4401622" y="4479488"/>
            <a:ext cx="5827038" cy="556260"/>
          </a:xfrm>
          <a:prstGeom prst="rect">
            <a:avLst/>
          </a:prstGeom>
          <a:noFill/>
          <a:ln/>
        </p:spPr>
        <p:txBody>
          <a:bodyPr wrap="square" lIns="0" tIns="0" rIns="0" bIns="0" rtlCol="0" anchor="t"/>
          <a:lstStyle/>
          <a:p>
            <a:pPr marL="0" indent="0" algn="ctr">
              <a:lnSpc>
                <a:spcPts val="2150"/>
              </a:lnSpc>
              <a:buNone/>
            </a:pPr>
            <a:r>
              <a:rPr lang="en-US" sz="1600" dirty="0">
                <a:solidFill>
                  <a:srgbClr val="4B4A4A"/>
                </a:solidFill>
                <a:ea typeface="Geist" pitchFamily="34" charset="-122"/>
                <a:cs typeface="Geist" pitchFamily="34" charset="-120"/>
              </a:rPr>
              <a:t>Efficiently identify food-security-related articles using semantic embeddings</a:t>
            </a:r>
            <a:endParaRPr lang="en-US" sz="1600" dirty="0"/>
          </a:p>
        </p:txBody>
      </p:sp>
      <p:sp>
        <p:nvSpPr>
          <p:cNvPr id="14" name="Shape 12"/>
          <p:cNvSpPr/>
          <p:nvPr/>
        </p:nvSpPr>
        <p:spPr>
          <a:xfrm>
            <a:off x="10499527" y="2886849"/>
            <a:ext cx="22860" cy="521494"/>
          </a:xfrm>
          <a:prstGeom prst="roundRect">
            <a:avLst>
              <a:gd name="adj" fmla="val 684432"/>
            </a:avLst>
          </a:prstGeom>
          <a:solidFill>
            <a:srgbClr val="4C773C"/>
          </a:solidFill>
          <a:ln/>
        </p:spPr>
        <p:txBody>
          <a:bodyPr/>
          <a:lstStyle/>
          <a:p>
            <a:endParaRPr lang="en-US"/>
          </a:p>
        </p:txBody>
      </p:sp>
      <p:sp>
        <p:nvSpPr>
          <p:cNvPr id="15" name="Shape 13"/>
          <p:cNvSpPr/>
          <p:nvPr/>
        </p:nvSpPr>
        <p:spPr>
          <a:xfrm>
            <a:off x="10315456" y="3212723"/>
            <a:ext cx="391120" cy="391120"/>
          </a:xfrm>
          <a:prstGeom prst="roundRect">
            <a:avLst>
              <a:gd name="adj" fmla="val 40003"/>
            </a:avLst>
          </a:prstGeom>
          <a:solidFill>
            <a:srgbClr val="335E23"/>
          </a:solidFill>
          <a:ln w="7620">
            <a:solidFill>
              <a:srgbClr val="4C773C"/>
            </a:solidFill>
            <a:prstDash val="solid"/>
          </a:ln>
        </p:spPr>
        <p:txBody>
          <a:bodyPr/>
          <a:lstStyle/>
          <a:p>
            <a:endParaRPr lang="en-US"/>
          </a:p>
        </p:txBody>
      </p:sp>
      <p:sp>
        <p:nvSpPr>
          <p:cNvPr id="16" name="Text 14"/>
          <p:cNvSpPr/>
          <p:nvPr/>
        </p:nvSpPr>
        <p:spPr>
          <a:xfrm>
            <a:off x="10380583" y="3245287"/>
            <a:ext cx="260747" cy="325874"/>
          </a:xfrm>
          <a:prstGeom prst="rect">
            <a:avLst/>
          </a:prstGeom>
          <a:noFill/>
          <a:ln/>
        </p:spPr>
        <p:txBody>
          <a:bodyPr wrap="none" lIns="0" tIns="0" rIns="0" bIns="0" rtlCol="0" anchor="t"/>
          <a:lstStyle/>
          <a:p>
            <a:pPr marL="0" indent="0" algn="ctr">
              <a:lnSpc>
                <a:spcPts val="2050"/>
              </a:lnSpc>
              <a:buNone/>
            </a:pPr>
            <a:r>
              <a:rPr lang="en-US" sz="1600" b="1" dirty="0">
                <a:solidFill>
                  <a:srgbClr val="FFFFFF"/>
                </a:solidFill>
                <a:ea typeface="Noto Serif SC Bold" pitchFamily="34" charset="-122"/>
                <a:cs typeface="Noto Serif SC Bold" pitchFamily="34" charset="-120"/>
              </a:rPr>
              <a:t>3</a:t>
            </a:r>
            <a:endParaRPr lang="en-US" sz="1600" dirty="0"/>
          </a:p>
        </p:txBody>
      </p:sp>
      <p:sp>
        <p:nvSpPr>
          <p:cNvPr id="17" name="Text 15"/>
          <p:cNvSpPr/>
          <p:nvPr/>
        </p:nvSpPr>
        <p:spPr>
          <a:xfrm>
            <a:off x="9424630" y="1780818"/>
            <a:ext cx="2173010" cy="271582"/>
          </a:xfrm>
          <a:prstGeom prst="rect">
            <a:avLst/>
          </a:prstGeom>
          <a:noFill/>
          <a:ln/>
        </p:spPr>
        <p:txBody>
          <a:bodyPr wrap="none" lIns="0" tIns="0" rIns="0" bIns="0" rtlCol="0" anchor="t"/>
          <a:lstStyle/>
          <a:p>
            <a:pPr marL="0" indent="0" algn="ctr">
              <a:lnSpc>
                <a:spcPts val="2100"/>
              </a:lnSpc>
              <a:buNone/>
            </a:pPr>
            <a:r>
              <a:rPr lang="en-US" sz="1600" b="1" dirty="0">
                <a:solidFill>
                  <a:srgbClr val="4B4A4A"/>
                </a:solidFill>
                <a:ea typeface="Noto Serif SC Bold" pitchFamily="34" charset="-122"/>
                <a:cs typeface="Noto Serif SC Bold" pitchFamily="34" charset="-120"/>
              </a:rPr>
              <a:t>Pipeline Design</a:t>
            </a:r>
            <a:endParaRPr lang="en-US" sz="1600" dirty="0"/>
          </a:p>
        </p:txBody>
      </p:sp>
      <p:sp>
        <p:nvSpPr>
          <p:cNvPr id="18" name="Text 16"/>
          <p:cNvSpPr/>
          <p:nvPr/>
        </p:nvSpPr>
        <p:spPr>
          <a:xfrm>
            <a:off x="7597616" y="2156698"/>
            <a:ext cx="5827038" cy="278130"/>
          </a:xfrm>
          <a:prstGeom prst="rect">
            <a:avLst/>
          </a:prstGeom>
          <a:noFill/>
          <a:ln/>
        </p:spPr>
        <p:txBody>
          <a:bodyPr wrap="none" lIns="0" tIns="0" rIns="0" bIns="0" rtlCol="0" anchor="t"/>
          <a:lstStyle/>
          <a:p>
            <a:pPr marL="0" indent="0" algn="ctr">
              <a:lnSpc>
                <a:spcPts val="2150"/>
              </a:lnSpc>
              <a:buNone/>
            </a:pPr>
            <a:r>
              <a:rPr lang="en-US" sz="1600" dirty="0">
                <a:solidFill>
                  <a:srgbClr val="4B4A4A"/>
                </a:solidFill>
                <a:ea typeface="Geist" pitchFamily="34" charset="-122"/>
                <a:cs typeface="Geist" pitchFamily="34" charset="-120"/>
              </a:rPr>
              <a:t>Three-stage pipeline: data collection, classification, output generation</a:t>
            </a:r>
            <a:endParaRPr lang="en-US" sz="1600" dirty="0"/>
          </a:p>
        </p:txBody>
      </p:sp>
      <p:sp>
        <p:nvSpPr>
          <p:cNvPr id="19" name="Text 17"/>
          <p:cNvSpPr/>
          <p:nvPr/>
        </p:nvSpPr>
        <p:spPr>
          <a:xfrm>
            <a:off x="1031915" y="5231249"/>
            <a:ext cx="12566571" cy="834390"/>
          </a:xfrm>
          <a:prstGeom prst="rect">
            <a:avLst/>
          </a:prstGeom>
          <a:noFill/>
          <a:ln/>
        </p:spPr>
        <p:txBody>
          <a:bodyPr wrap="square" lIns="0" tIns="0" rIns="0" bIns="0" rtlCol="0" anchor="t"/>
          <a:lstStyle/>
          <a:p>
            <a:pPr marL="0" indent="0" algn="l">
              <a:lnSpc>
                <a:spcPts val="2150"/>
              </a:lnSpc>
              <a:buNone/>
            </a:pPr>
            <a:r>
              <a:rPr lang="en-US" sz="1600" dirty="0">
                <a:solidFill>
                  <a:srgbClr val="4B4A4A"/>
                </a:solidFill>
                <a:ea typeface="Geist" pitchFamily="34" charset="-122"/>
                <a:cs typeface="Geist" pitchFamily="34" charset="-120"/>
              </a:rPr>
              <a:t>The introduction of Machine Learning (ML) was motivated by a limitation observed in the native filtering capabilities of Power BI, particularly when dealing with large volumes of unstructured news data. The main objective was to efficiently identify and extract food-security-related news articles by transforming news titles (text) into semantic embeddings.</a:t>
            </a:r>
            <a:endParaRPr lang="en-US" sz="1600" dirty="0"/>
          </a:p>
        </p:txBody>
      </p:sp>
      <p:sp>
        <p:nvSpPr>
          <p:cNvPr id="20" name="Text 18"/>
          <p:cNvSpPr/>
          <p:nvPr/>
        </p:nvSpPr>
        <p:spPr>
          <a:xfrm>
            <a:off x="1031915" y="6261140"/>
            <a:ext cx="12566571" cy="556260"/>
          </a:xfrm>
          <a:prstGeom prst="rect">
            <a:avLst/>
          </a:prstGeom>
          <a:noFill/>
          <a:ln/>
        </p:spPr>
        <p:txBody>
          <a:bodyPr wrap="square" lIns="0" tIns="0" rIns="0" bIns="0" rtlCol="0" anchor="t"/>
          <a:lstStyle/>
          <a:p>
            <a:pPr marL="0" indent="0" algn="l">
              <a:lnSpc>
                <a:spcPts val="2150"/>
              </a:lnSpc>
              <a:buNone/>
            </a:pPr>
            <a:r>
              <a:rPr lang="en-US" sz="1600" dirty="0">
                <a:solidFill>
                  <a:srgbClr val="4B4A4A"/>
                </a:solidFill>
                <a:ea typeface="Geist" pitchFamily="34" charset="-122"/>
                <a:cs typeface="Geist" pitchFamily="34" charset="-120"/>
              </a:rPr>
              <a:t>The Python code was designed as a three-stage pipeline. The first stage focuses on data collection, where a specific time period and search criteria are defined. An API-based approach is then used to retrieve news articles on a daily basis, ensuring consistent and systematic data acquisition over time.</a:t>
            </a:r>
            <a:endParaRPr lang="en-US" sz="1600" dirty="0"/>
          </a:p>
        </p:txBody>
      </p:sp>
      <p:sp>
        <p:nvSpPr>
          <p:cNvPr id="21" name="Shape 19"/>
          <p:cNvSpPr/>
          <p:nvPr/>
        </p:nvSpPr>
        <p:spPr>
          <a:xfrm>
            <a:off x="1031915" y="7012900"/>
            <a:ext cx="466844" cy="326708"/>
          </a:xfrm>
          <a:prstGeom prst="roundRect">
            <a:avLst>
              <a:gd name="adj" fmla="val 38312"/>
            </a:avLst>
          </a:prstGeom>
          <a:solidFill>
            <a:srgbClr val="CCFFEF"/>
          </a:solidFill>
          <a:ln/>
        </p:spPr>
        <p:txBody>
          <a:bodyPr/>
          <a:lstStyle/>
          <a:p>
            <a:endParaRPr lang="en-US"/>
          </a:p>
        </p:txBody>
      </p:sp>
      <p:sp>
        <p:nvSpPr>
          <p:cNvPr id="22" name="Text 20"/>
          <p:cNvSpPr/>
          <p:nvPr/>
        </p:nvSpPr>
        <p:spPr>
          <a:xfrm>
            <a:off x="1136213" y="7065050"/>
            <a:ext cx="258247" cy="222409"/>
          </a:xfrm>
          <a:prstGeom prst="rect">
            <a:avLst/>
          </a:prstGeom>
          <a:noFill/>
          <a:ln/>
        </p:spPr>
        <p:txBody>
          <a:bodyPr wrap="none" lIns="0" tIns="0" rIns="0" bIns="0" rtlCol="0" anchor="t"/>
          <a:lstStyle/>
          <a:p>
            <a:pPr marL="0" indent="0" algn="l">
              <a:lnSpc>
                <a:spcPts val="1750"/>
              </a:lnSpc>
              <a:buNone/>
            </a:pPr>
            <a:r>
              <a:rPr lang="en-US" sz="1600" b="1" dirty="0">
                <a:solidFill>
                  <a:srgbClr val="4B4A4A"/>
                </a:solidFill>
                <a:ea typeface="Geist" pitchFamily="34" charset="-122"/>
                <a:cs typeface="Geist" pitchFamily="34" charset="-120"/>
              </a:rPr>
              <a:t>K&amp;J</a:t>
            </a:r>
            <a:endParaRPr lang="en-US" sz="16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2787486" y="319622"/>
            <a:ext cx="9269360" cy="257663"/>
          </a:xfrm>
          <a:prstGeom prst="rect">
            <a:avLst/>
          </a:prstGeom>
          <a:noFill/>
          <a:ln/>
        </p:spPr>
        <p:txBody>
          <a:bodyPr wrap="none" lIns="0" tIns="0" rIns="0" bIns="0" rtlCol="0" anchor="t"/>
          <a:lstStyle/>
          <a:p>
            <a:pPr marL="0" indent="0" algn="ctr">
              <a:lnSpc>
                <a:spcPts val="2900"/>
              </a:lnSpc>
              <a:buNone/>
            </a:pPr>
            <a:r>
              <a:rPr lang="en-US" sz="4000" b="1" dirty="0">
                <a:solidFill>
                  <a:srgbClr val="006747"/>
                </a:solidFill>
                <a:ea typeface="Noto Serif SC Bold" pitchFamily="34" charset="-122"/>
                <a:cs typeface="Noto Serif SC Bold" pitchFamily="34" charset="-120"/>
              </a:rPr>
              <a:t>Hybrid Information Retrieval Model Design</a:t>
            </a:r>
            <a:endParaRPr lang="en-US" sz="4000" dirty="0"/>
          </a:p>
        </p:txBody>
      </p:sp>
      <p:sp>
        <p:nvSpPr>
          <p:cNvPr id="4" name="Shape 1"/>
          <p:cNvSpPr/>
          <p:nvPr/>
        </p:nvSpPr>
        <p:spPr>
          <a:xfrm>
            <a:off x="7099042" y="1042303"/>
            <a:ext cx="15240" cy="4283273"/>
          </a:xfrm>
          <a:prstGeom prst="roundRect">
            <a:avLst>
              <a:gd name="adj" fmla="val 703644"/>
            </a:avLst>
          </a:prstGeom>
          <a:solidFill>
            <a:srgbClr val="198060"/>
          </a:solidFill>
          <a:ln/>
        </p:spPr>
        <p:txBody>
          <a:bodyPr/>
          <a:lstStyle/>
          <a:p>
            <a:endParaRPr lang="en-US"/>
          </a:p>
        </p:txBody>
      </p:sp>
      <p:sp>
        <p:nvSpPr>
          <p:cNvPr id="5" name="Shape 2"/>
          <p:cNvSpPr/>
          <p:nvPr/>
        </p:nvSpPr>
        <p:spPr>
          <a:xfrm>
            <a:off x="2807910" y="1001817"/>
            <a:ext cx="4306372" cy="892135"/>
          </a:xfrm>
          <a:prstGeom prst="roundRect">
            <a:avLst>
              <a:gd name="adj" fmla="val 12020"/>
            </a:avLst>
          </a:prstGeom>
          <a:solidFill>
            <a:srgbClr val="D1EFE4"/>
          </a:solidFill>
          <a:ln w="7620">
            <a:solidFill>
              <a:srgbClr val="006747"/>
            </a:solidFill>
            <a:prstDash val="solid"/>
          </a:ln>
        </p:spPr>
        <p:txBody>
          <a:bodyPr/>
          <a:lstStyle/>
          <a:p>
            <a:endParaRPr lang="en-US"/>
          </a:p>
        </p:txBody>
      </p:sp>
      <p:sp>
        <p:nvSpPr>
          <p:cNvPr id="6" name="Text 3"/>
          <p:cNvSpPr/>
          <p:nvPr/>
        </p:nvSpPr>
        <p:spPr>
          <a:xfrm>
            <a:off x="2906734" y="1096004"/>
            <a:ext cx="2219682" cy="186095"/>
          </a:xfrm>
          <a:prstGeom prst="rect">
            <a:avLst/>
          </a:prstGeom>
          <a:noFill/>
          <a:ln/>
        </p:spPr>
        <p:txBody>
          <a:bodyPr wrap="none" lIns="0" tIns="0" rIns="0" bIns="0" rtlCol="0" anchor="t"/>
          <a:lstStyle/>
          <a:p>
            <a:pPr marL="0" indent="0">
              <a:lnSpc>
                <a:spcPts val="1450"/>
              </a:lnSpc>
              <a:buNone/>
            </a:pPr>
            <a:r>
              <a:rPr lang="en-US" sz="1100" b="1" dirty="0">
                <a:solidFill>
                  <a:srgbClr val="4B4A4A"/>
                </a:solidFill>
                <a:ea typeface="Noto Serif SC Bold" pitchFamily="34" charset="-122"/>
                <a:cs typeface="Noto Serif SC Bold" pitchFamily="34" charset="-120"/>
              </a:rPr>
              <a:t>Stage 2: Hybrid Classification</a:t>
            </a:r>
            <a:endParaRPr lang="en-US" sz="1100" dirty="0"/>
          </a:p>
        </p:txBody>
      </p:sp>
      <p:sp>
        <p:nvSpPr>
          <p:cNvPr id="7" name="Text 4"/>
          <p:cNvSpPr/>
          <p:nvPr/>
        </p:nvSpPr>
        <p:spPr>
          <a:xfrm>
            <a:off x="2906734" y="1346445"/>
            <a:ext cx="4060627" cy="381238"/>
          </a:xfrm>
          <a:prstGeom prst="rect">
            <a:avLst/>
          </a:prstGeom>
          <a:noFill/>
          <a:ln/>
        </p:spPr>
        <p:txBody>
          <a:bodyPr wrap="square" lIns="0" tIns="0" rIns="0" bIns="0" rtlCol="0" anchor="t"/>
          <a:lstStyle/>
          <a:p>
            <a:pPr marL="0" indent="0">
              <a:lnSpc>
                <a:spcPts val="1500"/>
              </a:lnSpc>
              <a:buNone/>
            </a:pPr>
            <a:r>
              <a:rPr lang="en-US" sz="1100" dirty="0">
                <a:solidFill>
                  <a:srgbClr val="4B4A4A"/>
                </a:solidFill>
                <a:ea typeface="Geist" pitchFamily="34" charset="-122"/>
                <a:cs typeface="Geist" pitchFamily="34" charset="-120"/>
              </a:rPr>
              <a:t>The second stage applies a hybrid classification approach using two complementary methods to identify food-related news articles.</a:t>
            </a:r>
            <a:endParaRPr lang="en-US" sz="1100" dirty="0"/>
          </a:p>
        </p:txBody>
      </p:sp>
      <p:sp>
        <p:nvSpPr>
          <p:cNvPr id="8" name="Shape 5"/>
          <p:cNvSpPr/>
          <p:nvPr/>
        </p:nvSpPr>
        <p:spPr>
          <a:xfrm>
            <a:off x="7114163" y="2103014"/>
            <a:ext cx="4306491" cy="892135"/>
          </a:xfrm>
          <a:prstGeom prst="rect">
            <a:avLst/>
          </a:prstGeom>
          <a:solidFill>
            <a:srgbClr val="D1EFE4"/>
          </a:solidFill>
          <a:ln w="7620">
            <a:solidFill>
              <a:srgbClr val="006747"/>
            </a:solidFill>
            <a:prstDash val="solid"/>
          </a:ln>
        </p:spPr>
        <p:txBody>
          <a:bodyPr/>
          <a:lstStyle/>
          <a:p>
            <a:endParaRPr lang="en-US"/>
          </a:p>
        </p:txBody>
      </p:sp>
      <p:sp>
        <p:nvSpPr>
          <p:cNvPr id="9" name="Text 6"/>
          <p:cNvSpPr/>
          <p:nvPr/>
        </p:nvSpPr>
        <p:spPr>
          <a:xfrm>
            <a:off x="7315200" y="2201398"/>
            <a:ext cx="2131576" cy="186095"/>
          </a:xfrm>
          <a:prstGeom prst="rect">
            <a:avLst/>
          </a:prstGeom>
          <a:noFill/>
          <a:ln/>
        </p:spPr>
        <p:txBody>
          <a:bodyPr wrap="none" lIns="0" tIns="0" rIns="0" bIns="0" rtlCol="0" anchor="t"/>
          <a:lstStyle/>
          <a:p>
            <a:pPr marL="0" indent="0" algn="l">
              <a:lnSpc>
                <a:spcPts val="1450"/>
              </a:lnSpc>
              <a:buNone/>
            </a:pPr>
            <a:r>
              <a:rPr lang="en-US" sz="1100" b="1" dirty="0">
                <a:solidFill>
                  <a:srgbClr val="4B4A4A"/>
                </a:solidFill>
                <a:ea typeface="Noto Serif SC Bold" pitchFamily="34" charset="-122"/>
                <a:cs typeface="Noto Serif SC Bold" pitchFamily="34" charset="-120"/>
              </a:rPr>
              <a:t>Method 1: Exact Food Match</a:t>
            </a:r>
            <a:endParaRPr lang="en-US" sz="1100" dirty="0"/>
          </a:p>
        </p:txBody>
      </p:sp>
      <p:sp>
        <p:nvSpPr>
          <p:cNvPr id="10" name="Text 7"/>
          <p:cNvSpPr/>
          <p:nvPr/>
        </p:nvSpPr>
        <p:spPr>
          <a:xfrm>
            <a:off x="7321097" y="2442830"/>
            <a:ext cx="4060746" cy="381238"/>
          </a:xfrm>
          <a:prstGeom prst="rect">
            <a:avLst/>
          </a:prstGeom>
          <a:noFill/>
          <a:ln/>
        </p:spPr>
        <p:txBody>
          <a:bodyPr wrap="square" lIns="0" tIns="0" rIns="0" bIns="0" rtlCol="0" anchor="t"/>
          <a:lstStyle/>
          <a:p>
            <a:pPr marL="0" indent="0" algn="l">
              <a:lnSpc>
                <a:spcPts val="1500"/>
              </a:lnSpc>
              <a:buNone/>
            </a:pPr>
            <a:r>
              <a:rPr lang="en-US" sz="1100" dirty="0">
                <a:solidFill>
                  <a:srgbClr val="4B4A4A"/>
                </a:solidFill>
                <a:ea typeface="Geist" pitchFamily="34" charset="-122"/>
                <a:cs typeface="Geist" pitchFamily="34" charset="-120"/>
              </a:rPr>
              <a:t>Relies on matching predefined food-related keywords directly with the news title for explicit identification.</a:t>
            </a:r>
            <a:endParaRPr lang="en-US" sz="1100" dirty="0"/>
          </a:p>
        </p:txBody>
      </p:sp>
      <p:sp>
        <p:nvSpPr>
          <p:cNvPr id="11" name="Shape 8"/>
          <p:cNvSpPr/>
          <p:nvPr/>
        </p:nvSpPr>
        <p:spPr>
          <a:xfrm>
            <a:off x="2787486" y="3098098"/>
            <a:ext cx="4306372" cy="892135"/>
          </a:xfrm>
          <a:prstGeom prst="roundRect">
            <a:avLst>
              <a:gd name="adj" fmla="val 12020"/>
            </a:avLst>
          </a:prstGeom>
          <a:solidFill>
            <a:srgbClr val="D1EFE4"/>
          </a:solidFill>
          <a:ln w="7620">
            <a:solidFill>
              <a:srgbClr val="006747"/>
            </a:solidFill>
            <a:prstDash val="solid"/>
          </a:ln>
        </p:spPr>
        <p:txBody>
          <a:bodyPr/>
          <a:lstStyle/>
          <a:p>
            <a:endParaRPr lang="en-US"/>
          </a:p>
        </p:txBody>
      </p:sp>
      <p:sp>
        <p:nvSpPr>
          <p:cNvPr id="12" name="Text 9"/>
          <p:cNvSpPr/>
          <p:nvPr/>
        </p:nvSpPr>
        <p:spPr>
          <a:xfrm>
            <a:off x="2871372" y="3217863"/>
            <a:ext cx="2290405" cy="186095"/>
          </a:xfrm>
          <a:prstGeom prst="rect">
            <a:avLst/>
          </a:prstGeom>
          <a:noFill/>
          <a:ln/>
        </p:spPr>
        <p:txBody>
          <a:bodyPr wrap="none" lIns="0" tIns="0" rIns="0" bIns="0" rtlCol="0" anchor="t"/>
          <a:lstStyle/>
          <a:p>
            <a:pPr marL="0" indent="0">
              <a:lnSpc>
                <a:spcPts val="1450"/>
              </a:lnSpc>
              <a:buNone/>
            </a:pPr>
            <a:r>
              <a:rPr lang="en-US" sz="1100" b="1" dirty="0">
                <a:solidFill>
                  <a:srgbClr val="4B4A4A"/>
                </a:solidFill>
                <a:ea typeface="Noto Serif SC Bold" pitchFamily="34" charset="-122"/>
                <a:cs typeface="Noto Serif SC Bold" pitchFamily="34" charset="-120"/>
              </a:rPr>
              <a:t>Method 2: Semantic Similarity</a:t>
            </a:r>
            <a:endParaRPr lang="en-US" sz="1100" dirty="0"/>
          </a:p>
        </p:txBody>
      </p:sp>
      <p:sp>
        <p:nvSpPr>
          <p:cNvPr id="13" name="Text 10"/>
          <p:cNvSpPr/>
          <p:nvPr/>
        </p:nvSpPr>
        <p:spPr>
          <a:xfrm>
            <a:off x="2860059" y="3501421"/>
            <a:ext cx="4060627" cy="381238"/>
          </a:xfrm>
          <a:prstGeom prst="rect">
            <a:avLst/>
          </a:prstGeom>
          <a:noFill/>
          <a:ln/>
        </p:spPr>
        <p:txBody>
          <a:bodyPr wrap="square" lIns="0" tIns="0" rIns="0" bIns="0" rtlCol="0" anchor="t"/>
          <a:lstStyle/>
          <a:p>
            <a:pPr marL="0" indent="0">
              <a:lnSpc>
                <a:spcPts val="1500"/>
              </a:lnSpc>
              <a:buNone/>
            </a:pPr>
            <a:r>
              <a:rPr lang="en-US" sz="1100" dirty="0">
                <a:solidFill>
                  <a:srgbClr val="4B4A4A"/>
                </a:solidFill>
                <a:ea typeface="Geist" pitchFamily="34" charset="-122"/>
                <a:cs typeface="Geist" pitchFamily="34" charset="-120"/>
              </a:rPr>
              <a:t>Calculates similarity score using multilingual embedding model to capture implicit references to food security without explicit keywords.</a:t>
            </a:r>
            <a:endParaRPr lang="en-US" sz="1100" dirty="0"/>
          </a:p>
        </p:txBody>
      </p:sp>
      <p:sp>
        <p:nvSpPr>
          <p:cNvPr id="14" name="Shape 11"/>
          <p:cNvSpPr/>
          <p:nvPr/>
        </p:nvSpPr>
        <p:spPr>
          <a:xfrm>
            <a:off x="7106662" y="4343238"/>
            <a:ext cx="4306491" cy="892135"/>
          </a:xfrm>
          <a:prstGeom prst="rect">
            <a:avLst/>
          </a:prstGeom>
          <a:solidFill>
            <a:srgbClr val="D1EFE4"/>
          </a:solidFill>
          <a:ln w="7620">
            <a:solidFill>
              <a:srgbClr val="006747"/>
            </a:solidFill>
            <a:prstDash val="solid"/>
          </a:ln>
        </p:spPr>
        <p:txBody>
          <a:bodyPr/>
          <a:lstStyle/>
          <a:p>
            <a:endParaRPr lang="en-US"/>
          </a:p>
        </p:txBody>
      </p:sp>
      <p:sp>
        <p:nvSpPr>
          <p:cNvPr id="15" name="Text 12"/>
          <p:cNvSpPr/>
          <p:nvPr/>
        </p:nvSpPr>
        <p:spPr>
          <a:xfrm>
            <a:off x="7258704" y="4443423"/>
            <a:ext cx="2005013" cy="186095"/>
          </a:xfrm>
          <a:prstGeom prst="rect">
            <a:avLst/>
          </a:prstGeom>
          <a:noFill/>
          <a:ln/>
        </p:spPr>
        <p:txBody>
          <a:bodyPr wrap="none" lIns="0" tIns="0" rIns="0" bIns="0" rtlCol="0" anchor="t"/>
          <a:lstStyle/>
          <a:p>
            <a:pPr marL="0" indent="0" algn="l">
              <a:lnSpc>
                <a:spcPts val="1450"/>
              </a:lnSpc>
              <a:buNone/>
            </a:pPr>
            <a:r>
              <a:rPr lang="en-US" sz="1100" b="1" dirty="0">
                <a:solidFill>
                  <a:srgbClr val="4B4A4A"/>
                </a:solidFill>
                <a:ea typeface="Noto Serif SC Bold" pitchFamily="34" charset="-122"/>
                <a:cs typeface="Noto Serif SC Bold" pitchFamily="34" charset="-120"/>
              </a:rPr>
              <a:t>Stage 3: Structured Output</a:t>
            </a:r>
            <a:endParaRPr lang="en-US" sz="1100" dirty="0"/>
          </a:p>
        </p:txBody>
      </p:sp>
      <p:sp>
        <p:nvSpPr>
          <p:cNvPr id="16" name="Text 13"/>
          <p:cNvSpPr/>
          <p:nvPr/>
        </p:nvSpPr>
        <p:spPr>
          <a:xfrm>
            <a:off x="7265275" y="4695303"/>
            <a:ext cx="4060746" cy="381238"/>
          </a:xfrm>
          <a:prstGeom prst="rect">
            <a:avLst/>
          </a:prstGeom>
          <a:noFill/>
          <a:ln/>
        </p:spPr>
        <p:txBody>
          <a:bodyPr wrap="square" lIns="0" tIns="0" rIns="0" bIns="0" rtlCol="0" anchor="t"/>
          <a:lstStyle/>
          <a:p>
            <a:pPr marL="0" indent="0" algn="l">
              <a:lnSpc>
                <a:spcPts val="1500"/>
              </a:lnSpc>
              <a:buNone/>
            </a:pPr>
            <a:r>
              <a:rPr lang="en-US" sz="1100" dirty="0">
                <a:solidFill>
                  <a:srgbClr val="4B4A4A"/>
                </a:solidFill>
                <a:ea typeface="Geist" pitchFamily="34" charset="-122"/>
                <a:cs typeface="Geist" pitchFamily="34" charset="-120"/>
              </a:rPr>
              <a:t>Final stage outputs results as a structured CSV table for integration with analytical tools.</a:t>
            </a:r>
            <a:endParaRPr lang="en-US" sz="1100" dirty="0"/>
          </a:p>
        </p:txBody>
      </p:sp>
      <p:sp>
        <p:nvSpPr>
          <p:cNvPr id="17" name="Text 14"/>
          <p:cNvSpPr/>
          <p:nvPr/>
        </p:nvSpPr>
        <p:spPr>
          <a:xfrm>
            <a:off x="357299" y="5700391"/>
            <a:ext cx="13149979" cy="554914"/>
          </a:xfrm>
          <a:prstGeom prst="rect">
            <a:avLst/>
          </a:prstGeom>
          <a:noFill/>
          <a:ln/>
        </p:spPr>
        <p:txBody>
          <a:bodyPr wrap="none" lIns="0" tIns="0" rIns="0" bIns="0" rtlCol="0" anchor="t"/>
          <a:lstStyle/>
          <a:p>
            <a:pPr marL="0" indent="0" algn="l">
              <a:lnSpc>
                <a:spcPts val="1500"/>
              </a:lnSpc>
              <a:buNone/>
            </a:pPr>
            <a:r>
              <a:rPr lang="en-US" dirty="0">
                <a:solidFill>
                  <a:srgbClr val="4B4A4A"/>
                </a:solidFill>
                <a:ea typeface="Geist" pitchFamily="34" charset="-122"/>
                <a:cs typeface="Geist" pitchFamily="34" charset="-120"/>
              </a:rPr>
              <a:t>To implement this pipeline, several Python packages were used, including: </a:t>
            </a:r>
            <a:r>
              <a:rPr lang="en-US" dirty="0">
                <a:solidFill>
                  <a:srgbClr val="4B4A4A"/>
                </a:solidFill>
                <a:highlight>
                  <a:srgbClr val="D8ECE5"/>
                </a:highlight>
                <a:ea typeface="Consolas" pitchFamily="34" charset="-122"/>
                <a:cs typeface="Consolas" pitchFamily="34" charset="-120"/>
              </a:rPr>
              <a:t>requests</a:t>
            </a:r>
            <a:r>
              <a:rPr lang="en-US" dirty="0">
                <a:solidFill>
                  <a:srgbClr val="4B4A4A"/>
                </a:solidFill>
                <a:ea typeface="Geist" pitchFamily="34" charset="-122"/>
                <a:cs typeface="Geist" pitchFamily="34" charset="-120"/>
              </a:rPr>
              <a:t>, </a:t>
            </a:r>
            <a:r>
              <a:rPr lang="en-US" dirty="0">
                <a:solidFill>
                  <a:srgbClr val="4B4A4A"/>
                </a:solidFill>
                <a:highlight>
                  <a:srgbClr val="D8ECE5"/>
                </a:highlight>
                <a:ea typeface="Consolas" pitchFamily="34" charset="-122"/>
                <a:cs typeface="Consolas" pitchFamily="34" charset="-120"/>
              </a:rPr>
              <a:t>pandas</a:t>
            </a:r>
            <a:r>
              <a:rPr lang="en-US" dirty="0">
                <a:solidFill>
                  <a:srgbClr val="4B4A4A"/>
                </a:solidFill>
                <a:ea typeface="Geist" pitchFamily="34" charset="-122"/>
                <a:cs typeface="Geist" pitchFamily="34" charset="-120"/>
              </a:rPr>
              <a:t>, </a:t>
            </a:r>
            <a:r>
              <a:rPr lang="en-US" dirty="0">
                <a:solidFill>
                  <a:srgbClr val="4B4A4A"/>
                </a:solidFill>
                <a:highlight>
                  <a:srgbClr val="D8ECE5"/>
                </a:highlight>
                <a:ea typeface="Consolas" pitchFamily="34" charset="-122"/>
                <a:cs typeface="Consolas" pitchFamily="34" charset="-120"/>
              </a:rPr>
              <a:t>sentence-transformers</a:t>
            </a:r>
            <a:r>
              <a:rPr lang="en-US" dirty="0">
                <a:solidFill>
                  <a:srgbClr val="4B4A4A"/>
                </a:solidFill>
                <a:ea typeface="Geist" pitchFamily="34" charset="-122"/>
                <a:cs typeface="Geist" pitchFamily="34" charset="-120"/>
              </a:rPr>
              <a:t>, </a:t>
            </a:r>
            <a:r>
              <a:rPr lang="en-US" dirty="0">
                <a:solidFill>
                  <a:srgbClr val="4B4A4A"/>
                </a:solidFill>
                <a:highlight>
                  <a:srgbClr val="D8ECE5"/>
                </a:highlight>
                <a:ea typeface="Consolas" pitchFamily="34" charset="-122"/>
                <a:cs typeface="Consolas" pitchFamily="34" charset="-120"/>
              </a:rPr>
              <a:t>torch</a:t>
            </a:r>
            <a:r>
              <a:rPr lang="en-US" dirty="0">
                <a:solidFill>
                  <a:srgbClr val="4B4A4A"/>
                </a:solidFill>
                <a:ea typeface="Geist" pitchFamily="34" charset="-122"/>
                <a:cs typeface="Geist" pitchFamily="34" charset="-120"/>
              </a:rPr>
              <a:t>, </a:t>
            </a:r>
            <a:r>
              <a:rPr lang="en-US" dirty="0">
                <a:solidFill>
                  <a:srgbClr val="4B4A4A"/>
                </a:solidFill>
                <a:highlight>
                  <a:srgbClr val="D8ECE5"/>
                </a:highlight>
                <a:ea typeface="Consolas" pitchFamily="34" charset="-122"/>
                <a:cs typeface="Consolas" pitchFamily="34" charset="-120"/>
              </a:rPr>
              <a:t>datetime</a:t>
            </a:r>
            <a:r>
              <a:rPr lang="en-US" dirty="0">
                <a:solidFill>
                  <a:srgbClr val="4B4A4A"/>
                </a:solidFill>
                <a:ea typeface="Geist" pitchFamily="34" charset="-122"/>
                <a:cs typeface="Geist" pitchFamily="34" charset="-120"/>
              </a:rPr>
              <a:t>, and </a:t>
            </a:r>
            <a:r>
              <a:rPr lang="en-US" dirty="0">
                <a:solidFill>
                  <a:srgbClr val="4B4A4A"/>
                </a:solidFill>
                <a:highlight>
                  <a:srgbClr val="D8ECE5"/>
                </a:highlight>
                <a:ea typeface="Consolas" pitchFamily="34" charset="-122"/>
                <a:cs typeface="Consolas" pitchFamily="34" charset="-120"/>
              </a:rPr>
              <a:t>time</a:t>
            </a:r>
            <a:r>
              <a:rPr lang="en-US" dirty="0">
                <a:solidFill>
                  <a:srgbClr val="4B4A4A"/>
                </a:solidFill>
                <a:ea typeface="Geist" pitchFamily="34" charset="-122"/>
                <a:cs typeface="Geist" pitchFamily="34" charset="-120"/>
              </a:rPr>
              <a:t>.</a:t>
            </a:r>
            <a:endParaRPr lang="en-US" dirty="0"/>
          </a:p>
        </p:txBody>
      </p:sp>
      <p:sp>
        <p:nvSpPr>
          <p:cNvPr id="18" name="Text 15"/>
          <p:cNvSpPr/>
          <p:nvPr/>
        </p:nvSpPr>
        <p:spPr>
          <a:xfrm>
            <a:off x="357299" y="6062930"/>
            <a:ext cx="13243675" cy="988587"/>
          </a:xfrm>
          <a:prstGeom prst="rect">
            <a:avLst/>
          </a:prstGeom>
          <a:noFill/>
          <a:ln/>
        </p:spPr>
        <p:txBody>
          <a:bodyPr wrap="square" lIns="0" tIns="0" rIns="0" bIns="0" rtlCol="0" anchor="t"/>
          <a:lstStyle/>
          <a:p>
            <a:pPr marL="0" indent="0" algn="l">
              <a:lnSpc>
                <a:spcPts val="1500"/>
              </a:lnSpc>
              <a:buNone/>
            </a:pPr>
            <a:endParaRPr lang="en-US" sz="2000" dirty="0"/>
          </a:p>
        </p:txBody>
      </p:sp>
      <p:sp>
        <p:nvSpPr>
          <p:cNvPr id="19" name="Shape 16"/>
          <p:cNvSpPr/>
          <p:nvPr/>
        </p:nvSpPr>
        <p:spPr>
          <a:xfrm>
            <a:off x="942403" y="7693805"/>
            <a:ext cx="319802" cy="223957"/>
          </a:xfrm>
          <a:prstGeom prst="roundRect">
            <a:avLst>
              <a:gd name="adj" fmla="val 38306"/>
            </a:avLst>
          </a:prstGeom>
          <a:solidFill>
            <a:srgbClr val="CCFFEF"/>
          </a:solidFill>
          <a:ln/>
        </p:spPr>
        <p:txBody>
          <a:bodyPr/>
          <a:lstStyle/>
          <a:p>
            <a:endParaRPr lang="en-US"/>
          </a:p>
        </p:txBody>
      </p:sp>
      <p:sp>
        <p:nvSpPr>
          <p:cNvPr id="20" name="Text 17"/>
          <p:cNvSpPr/>
          <p:nvPr/>
        </p:nvSpPr>
        <p:spPr>
          <a:xfrm>
            <a:off x="942403" y="7721217"/>
            <a:ext cx="735746" cy="423850"/>
          </a:xfrm>
          <a:prstGeom prst="rect">
            <a:avLst/>
          </a:prstGeom>
          <a:noFill/>
          <a:ln/>
        </p:spPr>
        <p:txBody>
          <a:bodyPr wrap="none" lIns="0" tIns="0" rIns="0" bIns="0" rtlCol="0" anchor="t"/>
          <a:lstStyle/>
          <a:p>
            <a:pPr marL="0" indent="0" algn="l">
              <a:lnSpc>
                <a:spcPts val="1200"/>
              </a:lnSpc>
              <a:buNone/>
            </a:pPr>
            <a:r>
              <a:rPr lang="en-US" sz="1100" b="1" dirty="0">
                <a:solidFill>
                  <a:srgbClr val="4B4A4A"/>
                </a:solidFill>
                <a:ea typeface="Geist" pitchFamily="34" charset="-122"/>
                <a:cs typeface="Geist" pitchFamily="34" charset="-120"/>
              </a:rPr>
              <a:t>K&amp;J</a:t>
            </a:r>
            <a:endParaRPr lang="en-US" sz="1100" b="1" dirty="0"/>
          </a:p>
        </p:txBody>
      </p:sp>
      <p:sp>
        <p:nvSpPr>
          <p:cNvPr id="2" name="TextBox 1">
            <a:extLst>
              <a:ext uri="{FF2B5EF4-FFF2-40B4-BE49-F238E27FC236}">
                <a16:creationId xmlns:a16="http://schemas.microsoft.com/office/drawing/2014/main" id="{EC19E2E5-7B14-297A-9C7E-FA4CC8A1C5D1}"/>
              </a:ext>
            </a:extLst>
          </p:cNvPr>
          <p:cNvSpPr txBox="1"/>
          <p:nvPr/>
        </p:nvSpPr>
        <p:spPr>
          <a:xfrm>
            <a:off x="263603" y="6062930"/>
            <a:ext cx="13337371" cy="496674"/>
          </a:xfrm>
          <a:prstGeom prst="rect">
            <a:avLst/>
          </a:prstGeom>
          <a:noFill/>
        </p:spPr>
        <p:txBody>
          <a:bodyPr wrap="square" rtlCol="0">
            <a:spAutoFit/>
          </a:bodyPr>
          <a:lstStyle/>
          <a:p>
            <a:pPr>
              <a:lnSpc>
                <a:spcPts val="1500"/>
              </a:lnSpc>
            </a:pPr>
            <a:r>
              <a:rPr lang="en-US" dirty="0">
                <a:solidFill>
                  <a:srgbClr val="4B4A4A"/>
                </a:solidFill>
                <a:ea typeface="Geist" pitchFamily="34" charset="-122"/>
                <a:cs typeface="Geist" pitchFamily="34" charset="-120"/>
              </a:rPr>
              <a:t>This hybrid approach combines the precision of keyword matching with the contextual understanding of semantic similarity, enabling more comprehensive identification of food-security-related content in news media.</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97459" y="3035618"/>
            <a:ext cx="3506730" cy="1107996"/>
          </a:xfrm>
          <a:prstGeom prst="rect">
            <a:avLst/>
          </a:prstGeom>
          <a:noFill/>
        </p:spPr>
        <p:txBody>
          <a:bodyPr wrap="none" lIns="91440" tIns="45720" rIns="91440" bIns="45720">
            <a:spAutoFit/>
          </a:bodyPr>
          <a:lstStyle/>
          <a:p>
            <a:pPr algn="ctr"/>
            <a:r>
              <a:rPr lang="en-GB" sz="6600" b="1" dirty="0">
                <a:ln w="0"/>
                <a:solidFill>
                  <a:srgbClr val="006747"/>
                </a:solidFill>
              </a:rPr>
              <a:t>Accuracy </a:t>
            </a:r>
            <a:endParaRPr lang="en-US" sz="6600" b="1" cap="none" spc="0" dirty="0">
              <a:ln w="0"/>
              <a:solidFill>
                <a:srgbClr val="006747"/>
              </a:solidFill>
            </a:endParaRPr>
          </a:p>
        </p:txBody>
      </p:sp>
    </p:spTree>
    <p:extLst>
      <p:ext uri="{BB962C8B-B14F-4D97-AF65-F5344CB8AC3E}">
        <p14:creationId xmlns:p14="http://schemas.microsoft.com/office/powerpoint/2010/main" val="731498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4622" y="-19446"/>
            <a:ext cx="10273775" cy="707886"/>
          </a:xfrm>
          <a:prstGeom prst="rect">
            <a:avLst/>
          </a:prstGeom>
        </p:spPr>
        <p:txBody>
          <a:bodyPr wrap="none">
            <a:spAutoFit/>
          </a:bodyPr>
          <a:lstStyle/>
          <a:p>
            <a:pPr algn="ctr"/>
            <a:r>
              <a:rPr lang="en-US" sz="4000" b="1" dirty="0">
                <a:solidFill>
                  <a:srgbClr val="006747"/>
                </a:solidFill>
                <a:latin typeface="Calibri" panose="020F0502020204030204" pitchFamily="34" charset="0"/>
                <a:ea typeface="Calibri" panose="020F0502020204030204" pitchFamily="34" charset="0"/>
                <a:cs typeface="Calibri" panose="020F0502020204030204" pitchFamily="34" charset="0"/>
              </a:rPr>
              <a:t>Accuracy Considerations and Model Limitations</a:t>
            </a:r>
          </a:p>
        </p:txBody>
      </p:sp>
      <p:pic>
        <p:nvPicPr>
          <p:cNvPr id="3" name="Picture 2"/>
          <p:cNvPicPr/>
          <p:nvPr/>
        </p:nvPicPr>
        <p:blipFill>
          <a:blip r:embed="rId2"/>
          <a:stretch>
            <a:fillRect/>
          </a:stretch>
        </p:blipFill>
        <p:spPr>
          <a:xfrm>
            <a:off x="1272210" y="705678"/>
            <a:ext cx="11658600" cy="4007378"/>
          </a:xfrm>
          <a:prstGeom prst="rect">
            <a:avLst/>
          </a:prstGeom>
        </p:spPr>
      </p:pic>
      <p:sp>
        <p:nvSpPr>
          <p:cNvPr id="4" name="Rectangle 3"/>
          <p:cNvSpPr/>
          <p:nvPr/>
        </p:nvSpPr>
        <p:spPr>
          <a:xfrm>
            <a:off x="141946" y="4747533"/>
            <a:ext cx="14737836" cy="3267048"/>
          </a:xfrm>
          <a:prstGeom prst="rect">
            <a:avLst/>
          </a:prstGeom>
        </p:spPr>
        <p:txBody>
          <a:bodyPr wrap="square">
            <a:spAutoFit/>
          </a:bodyPr>
          <a:lstStyle/>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The model was configured with a </a:t>
            </a:r>
            <a:r>
              <a:rPr lang="en-US" b="1" kern="100" dirty="0">
                <a:latin typeface="Calibri" panose="020F0502020204030204" pitchFamily="34" charset="0"/>
                <a:ea typeface="Calibri" panose="020F0502020204030204" pitchFamily="34" charset="0"/>
                <a:cs typeface="Arial" panose="020B0604020202020204" pitchFamily="34" charset="0"/>
              </a:rPr>
              <a:t>semantic similarity threshold greater than 0.35</a:t>
            </a:r>
            <a:r>
              <a:rPr lang="en-US" kern="100" dirty="0">
                <a:latin typeface="Calibri" panose="020F0502020204030204" pitchFamily="34" charset="0"/>
                <a:ea typeface="Calibri" panose="020F0502020204030204" pitchFamily="34" charset="0"/>
                <a:cs typeface="Arial" panose="020B0604020202020204" pitchFamily="34" charset="0"/>
              </a:rPr>
              <a:t>, which defines the minimum similarity required for an article to be classified as food-related.</a:t>
            </a:r>
            <a:br>
              <a:rPr lang="en-US" kern="100" dirty="0">
                <a:latin typeface="Calibri" panose="020F0502020204030204" pitchFamily="34" charset="0"/>
                <a:ea typeface="Calibri" panose="020F0502020204030204" pitchFamily="34" charset="0"/>
                <a:cs typeface="Arial" panose="020B0604020202020204" pitchFamily="34" charset="0"/>
              </a:rPr>
            </a:br>
            <a:r>
              <a:rPr lang="en-US" kern="100" dirty="0">
                <a:latin typeface="Calibri" panose="020F0502020204030204" pitchFamily="34" charset="0"/>
                <a:ea typeface="Calibri" panose="020F0502020204030204" pitchFamily="34" charset="0"/>
                <a:cs typeface="Arial" panose="020B0604020202020204" pitchFamily="34" charset="0"/>
              </a:rPr>
              <a:t>In addition, a targeted list of </a:t>
            </a:r>
            <a:r>
              <a:rPr lang="en-US" b="1" kern="100" dirty="0">
                <a:latin typeface="Calibri" panose="020F0502020204030204" pitchFamily="34" charset="0"/>
                <a:ea typeface="Calibri" panose="020F0502020204030204" pitchFamily="34" charset="0"/>
                <a:cs typeface="Arial" panose="020B0604020202020204" pitchFamily="34" charset="0"/>
              </a:rPr>
              <a:t>keywords</a:t>
            </a:r>
            <a:r>
              <a:rPr lang="en-US" kern="100" dirty="0">
                <a:latin typeface="Calibri" panose="020F0502020204030204" pitchFamily="34" charset="0"/>
                <a:ea typeface="Calibri" panose="020F0502020204030204" pitchFamily="34" charset="0"/>
                <a:cs typeface="Arial" panose="020B0604020202020204" pitchFamily="34" charset="0"/>
              </a:rPr>
              <a:t> was defined to support the ML model in understanding the relevant food-security-related terminology.</a:t>
            </a:r>
          </a:p>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This approach is classified as </a:t>
            </a:r>
            <a:r>
              <a:rPr lang="en-US" b="1" kern="100" dirty="0">
                <a:latin typeface="Calibri" panose="020F0502020204030204" pitchFamily="34" charset="0"/>
                <a:ea typeface="Calibri" panose="020F0502020204030204" pitchFamily="34" charset="0"/>
                <a:cs typeface="Arial" panose="020B0604020202020204" pitchFamily="34" charset="0"/>
              </a:rPr>
              <a:t>Hybrid Information Retrieval</a:t>
            </a:r>
            <a:r>
              <a:rPr lang="en-US" kern="100" dirty="0">
                <a:latin typeface="Calibri" panose="020F0502020204030204" pitchFamily="34" charset="0"/>
                <a:ea typeface="Calibri" panose="020F0502020204030204" pitchFamily="34" charset="0"/>
                <a:cs typeface="Arial" panose="020B0604020202020204" pitchFamily="34" charset="0"/>
              </a:rPr>
              <a:t>, as it combines </a:t>
            </a:r>
            <a:r>
              <a:rPr lang="en-US" b="1" kern="100" dirty="0">
                <a:latin typeface="Calibri" panose="020F0502020204030204" pitchFamily="34" charset="0"/>
                <a:ea typeface="Calibri" panose="020F0502020204030204" pitchFamily="34" charset="0"/>
                <a:cs typeface="Arial" panose="020B0604020202020204" pitchFamily="34" charset="0"/>
              </a:rPr>
              <a:t>exact keyword matching</a:t>
            </a:r>
            <a:r>
              <a:rPr lang="en-US" kern="100" dirty="0">
                <a:latin typeface="Calibri" panose="020F0502020204030204" pitchFamily="34" charset="0"/>
                <a:ea typeface="Calibri" panose="020F0502020204030204" pitchFamily="34" charset="0"/>
                <a:cs typeface="Arial" panose="020B0604020202020204" pitchFamily="34" charset="0"/>
              </a:rPr>
              <a:t> with </a:t>
            </a:r>
            <a:r>
              <a:rPr lang="en-US" b="1" kern="100" dirty="0">
                <a:latin typeface="Calibri" panose="020F0502020204030204" pitchFamily="34" charset="0"/>
                <a:ea typeface="Calibri" panose="020F0502020204030204" pitchFamily="34" charset="0"/>
                <a:cs typeface="Arial" panose="020B0604020202020204" pitchFamily="34" charset="0"/>
              </a:rPr>
              <a:t>semantic similarity scoring</a:t>
            </a:r>
            <a:r>
              <a:rPr lang="en-US" kern="100" dirty="0">
                <a:latin typeface="Calibri" panose="020F0502020204030204" pitchFamily="34" charset="0"/>
                <a:ea typeface="Calibri" panose="020F0502020204030204" pitchFamily="34" charset="0"/>
                <a:cs typeface="Arial" panose="020B0604020202020204" pitchFamily="34" charset="0"/>
              </a:rPr>
              <a:t>.</a:t>
            </a:r>
            <a:br>
              <a:rPr lang="en-US" kern="100" dirty="0">
                <a:latin typeface="Calibri" panose="020F0502020204030204" pitchFamily="34" charset="0"/>
                <a:ea typeface="Calibri" panose="020F0502020204030204" pitchFamily="34" charset="0"/>
                <a:cs typeface="Arial" panose="020B0604020202020204" pitchFamily="34" charset="0"/>
              </a:rPr>
            </a:br>
            <a:r>
              <a:rPr lang="en-US" kern="100" dirty="0">
                <a:latin typeface="Calibri" panose="020F0502020204030204" pitchFamily="34" charset="0"/>
                <a:ea typeface="Calibri" panose="020F0502020204030204" pitchFamily="34" charset="0"/>
                <a:cs typeface="Arial" panose="020B0604020202020204" pitchFamily="34" charset="0"/>
              </a:rPr>
              <a:t>For this reason, the model differs from traditional </a:t>
            </a:r>
            <a:r>
              <a:rPr lang="en-US" b="1" kern="100" dirty="0">
                <a:latin typeface="Calibri" panose="020F0502020204030204" pitchFamily="34" charset="0"/>
                <a:ea typeface="Calibri" panose="020F0502020204030204" pitchFamily="34" charset="0"/>
                <a:cs typeface="Arial" panose="020B0604020202020204" pitchFamily="34" charset="0"/>
              </a:rPr>
              <a:t>supervised machine learning</a:t>
            </a:r>
            <a:r>
              <a:rPr lang="en-US" kern="100" dirty="0">
                <a:latin typeface="Calibri" panose="020F0502020204030204" pitchFamily="34" charset="0"/>
                <a:ea typeface="Calibri" panose="020F0502020204030204" pitchFamily="34" charset="0"/>
                <a:cs typeface="Arial" panose="020B0604020202020204" pitchFamily="34" charset="0"/>
              </a:rPr>
              <a:t> approaches.</a:t>
            </a:r>
          </a:p>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Conventional accuracy metrics were not applied because the model does not rely on labeled training data.</a:t>
            </a:r>
            <a:br>
              <a:rPr lang="en-US" kern="100" dirty="0">
                <a:latin typeface="Calibri" panose="020F0502020204030204" pitchFamily="34" charset="0"/>
                <a:ea typeface="Calibri" panose="020F0502020204030204" pitchFamily="34" charset="0"/>
                <a:cs typeface="Arial" panose="020B0604020202020204" pitchFamily="34" charset="0"/>
              </a:rPr>
            </a:br>
            <a:r>
              <a:rPr lang="en-US" kern="100" dirty="0">
                <a:latin typeface="Calibri" panose="020F0502020204030204" pitchFamily="34" charset="0"/>
                <a:ea typeface="Calibri" panose="020F0502020204030204" pitchFamily="34" charset="0"/>
                <a:cs typeface="Arial" panose="020B0604020202020204" pitchFamily="34" charset="0"/>
              </a:rPr>
              <a:t>Instead, performance is governed by the </a:t>
            </a:r>
            <a:r>
              <a:rPr lang="en-US" b="1" kern="100" dirty="0">
                <a:latin typeface="Calibri" panose="020F0502020204030204" pitchFamily="34" charset="0"/>
                <a:ea typeface="Calibri" panose="020F0502020204030204" pitchFamily="34" charset="0"/>
                <a:cs typeface="Arial" panose="020B0604020202020204" pitchFamily="34" charset="0"/>
              </a:rPr>
              <a:t>semantic similarity threshold</a:t>
            </a:r>
            <a:r>
              <a:rPr lang="en-US" kern="100" dirty="0">
                <a:latin typeface="Calibri" panose="020F0502020204030204" pitchFamily="34" charset="0"/>
                <a:ea typeface="Calibri" panose="020F0502020204030204" pitchFamily="34" charset="0"/>
                <a:cs typeface="Arial" panose="020B0604020202020204" pitchFamily="34" charset="0"/>
              </a:rPr>
              <a:t>, which directly influences sensitivity and precision.</a:t>
            </a:r>
          </a:p>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To further improve the model and address its current limitations, future enhancements should include expanding the textual input beyond titles to incorporate </a:t>
            </a:r>
            <a:r>
              <a:rPr lang="en-US" b="1" kern="100" dirty="0">
                <a:latin typeface="Calibri" panose="020F0502020204030204" pitchFamily="34" charset="0"/>
                <a:ea typeface="Calibri" panose="020F0502020204030204" pitchFamily="34" charset="0"/>
                <a:cs typeface="Arial" panose="020B0604020202020204" pitchFamily="34" charset="0"/>
              </a:rPr>
              <a:t>full-text articles or article descriptions</a:t>
            </a:r>
            <a:r>
              <a:rPr lang="en-US" kern="100" dirty="0">
                <a:latin typeface="Calibri" panose="020F0502020204030204" pitchFamily="34" charset="0"/>
                <a:ea typeface="Calibri" panose="020F0502020204030204" pitchFamily="34" charset="0"/>
                <a:cs typeface="Arial" panose="020B0604020202020204" pitchFamily="34" charset="0"/>
              </a:rPr>
              <a:t>, which would provide richer context and improve classification reliability.</a:t>
            </a:r>
          </a:p>
        </p:txBody>
      </p:sp>
      <p:sp>
        <p:nvSpPr>
          <p:cNvPr id="5" name="Shape 10"/>
          <p:cNvSpPr/>
          <p:nvPr/>
        </p:nvSpPr>
        <p:spPr>
          <a:xfrm>
            <a:off x="13859470" y="7754769"/>
            <a:ext cx="770930" cy="373142"/>
          </a:xfrm>
          <a:prstGeom prst="roundRect">
            <a:avLst>
              <a:gd name="adj" fmla="val 38297"/>
            </a:avLst>
          </a:prstGeom>
          <a:solidFill>
            <a:srgbClr val="CCFFEF"/>
          </a:solidFill>
          <a:ln/>
        </p:spPr>
        <p:txBody>
          <a:bodyPr/>
          <a:lstStyle/>
          <a:p>
            <a:endParaRPr lang="en-US"/>
          </a:p>
        </p:txBody>
      </p:sp>
      <p:sp>
        <p:nvSpPr>
          <p:cNvPr id="6" name="Text 11"/>
          <p:cNvSpPr/>
          <p:nvPr/>
        </p:nvSpPr>
        <p:spPr>
          <a:xfrm>
            <a:off x="14097535" y="7814300"/>
            <a:ext cx="294799" cy="254079"/>
          </a:xfrm>
          <a:prstGeom prst="rect">
            <a:avLst/>
          </a:prstGeom>
          <a:noFill/>
          <a:ln/>
        </p:spPr>
        <p:txBody>
          <a:bodyPr wrap="non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K&amp;J</a:t>
            </a:r>
            <a:endParaRPr lang="en-US" sz="1250" b="1" dirty="0"/>
          </a:p>
        </p:txBody>
      </p:sp>
    </p:spTree>
    <p:extLst>
      <p:ext uri="{BB962C8B-B14F-4D97-AF65-F5344CB8AC3E}">
        <p14:creationId xmlns:p14="http://schemas.microsoft.com/office/powerpoint/2010/main" val="1721120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1418" y="-28276"/>
            <a:ext cx="10235880" cy="758669"/>
          </a:xfrm>
          <a:prstGeom prst="rect">
            <a:avLst/>
          </a:prstGeom>
        </p:spPr>
        <p:txBody>
          <a:bodyPr wrap="none">
            <a:spAutoFit/>
          </a:bodyPr>
          <a:lstStyle/>
          <a:p>
            <a:pPr algn="ctr">
              <a:lnSpc>
                <a:spcPct val="115000"/>
              </a:lnSpc>
              <a:spcAft>
                <a:spcPts val="800"/>
              </a:spcAft>
            </a:pPr>
            <a:r>
              <a:rPr lang="en-US" sz="4000" b="1" kern="100" dirty="0">
                <a:solidFill>
                  <a:srgbClr val="006747"/>
                </a:solidFill>
                <a:latin typeface="Calibri" panose="020F0502020204030204" pitchFamily="34" charset="0"/>
                <a:ea typeface="Calibri" panose="020F0502020204030204" pitchFamily="34" charset="0"/>
                <a:cs typeface="Arial" panose="020B0604020202020204" pitchFamily="34" charset="0"/>
              </a:rPr>
              <a:t>Classification Logic and Model Decision Process</a:t>
            </a:r>
          </a:p>
        </p:txBody>
      </p:sp>
      <p:pic>
        <p:nvPicPr>
          <p:cNvPr id="3" name="Picture 2"/>
          <p:cNvPicPr/>
          <p:nvPr/>
        </p:nvPicPr>
        <p:blipFill>
          <a:blip r:embed="rId2"/>
          <a:stretch>
            <a:fillRect/>
          </a:stretch>
        </p:blipFill>
        <p:spPr>
          <a:xfrm>
            <a:off x="690706" y="766851"/>
            <a:ext cx="13015356" cy="3790781"/>
          </a:xfrm>
          <a:prstGeom prst="rect">
            <a:avLst/>
          </a:prstGeom>
        </p:spPr>
      </p:pic>
      <p:sp>
        <p:nvSpPr>
          <p:cNvPr id="4" name="Rectangle 3"/>
          <p:cNvSpPr/>
          <p:nvPr/>
        </p:nvSpPr>
        <p:spPr>
          <a:xfrm>
            <a:off x="1068779" y="4800526"/>
            <a:ext cx="11602193" cy="3790781"/>
          </a:xfrm>
          <a:prstGeom prst="rect">
            <a:avLst/>
          </a:prstGeom>
        </p:spPr>
        <p:txBody>
          <a:bodyPr wrap="square">
            <a:spAutoFit/>
          </a:bodyPr>
          <a:lstStyle/>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This section explains the </a:t>
            </a:r>
            <a:r>
              <a:rPr lang="en-US" b="1" kern="100" dirty="0">
                <a:latin typeface="Calibri" panose="020F0502020204030204" pitchFamily="34" charset="0"/>
                <a:ea typeface="Calibri" panose="020F0502020204030204" pitchFamily="34" charset="0"/>
                <a:cs typeface="Arial" panose="020B0604020202020204" pitchFamily="34" charset="0"/>
              </a:rPr>
              <a:t>classification logic</a:t>
            </a:r>
            <a:r>
              <a:rPr lang="en-US" kern="100" dirty="0">
                <a:latin typeface="Calibri" panose="020F0502020204030204" pitchFamily="34" charset="0"/>
                <a:ea typeface="Calibri" panose="020F0502020204030204" pitchFamily="34" charset="0"/>
                <a:cs typeface="Arial" panose="020B0604020202020204" pitchFamily="34" charset="0"/>
              </a:rPr>
              <a:t> used in the model, based on </a:t>
            </a:r>
            <a:r>
              <a:rPr lang="en-US" b="1" kern="100" dirty="0">
                <a:latin typeface="Calibri" panose="020F0502020204030204" pitchFamily="34" charset="0"/>
                <a:ea typeface="Calibri" panose="020F0502020204030204" pitchFamily="34" charset="0"/>
                <a:cs typeface="Arial" panose="020B0604020202020204" pitchFamily="34" charset="0"/>
              </a:rPr>
              <a:t>True Positives (TP), True Negatives (TN), False Positives (FP), and False Negatives (FN)</a:t>
            </a:r>
            <a:r>
              <a:rPr lang="en-US" kern="100" dirty="0">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The primary task of the model is to determine whether a news article is </a:t>
            </a:r>
            <a:r>
              <a:rPr lang="en-US" b="1" kern="100" dirty="0">
                <a:latin typeface="Calibri" panose="020F0502020204030204" pitchFamily="34" charset="0"/>
                <a:ea typeface="Calibri" panose="020F0502020204030204" pitchFamily="34" charset="0"/>
                <a:cs typeface="Arial" panose="020B0604020202020204" pitchFamily="34" charset="0"/>
              </a:rPr>
              <a:t>food-related (1)</a:t>
            </a:r>
            <a:r>
              <a:rPr lang="en-US" kern="100" dirty="0">
                <a:latin typeface="Calibri" panose="020F0502020204030204" pitchFamily="34" charset="0"/>
                <a:ea typeface="Calibri" panose="020F0502020204030204" pitchFamily="34" charset="0"/>
                <a:cs typeface="Arial" panose="020B0604020202020204" pitchFamily="34" charset="0"/>
              </a:rPr>
              <a:t> or </a:t>
            </a:r>
            <a:r>
              <a:rPr lang="en-US" b="1" kern="100" dirty="0">
                <a:latin typeface="Calibri" panose="020F0502020204030204" pitchFamily="34" charset="0"/>
                <a:ea typeface="Calibri" panose="020F0502020204030204" pitchFamily="34" charset="0"/>
                <a:cs typeface="Arial" panose="020B0604020202020204" pitchFamily="34" charset="0"/>
              </a:rPr>
              <a:t>not food-related (0)</a:t>
            </a:r>
            <a:r>
              <a:rPr lang="en-US" kern="100" dirty="0">
                <a:latin typeface="Calibri" panose="020F0502020204030204" pitchFamily="34" charset="0"/>
                <a:ea typeface="Calibri" panose="020F0502020204030204" pitchFamily="34" charset="0"/>
                <a:cs typeface="Arial" panose="020B0604020202020204" pitchFamily="34" charset="0"/>
              </a:rPr>
              <a:t>.</a:t>
            </a:r>
            <a:br>
              <a:rPr lang="en-US" kern="100" dirty="0">
                <a:latin typeface="Calibri" panose="020F0502020204030204" pitchFamily="34" charset="0"/>
                <a:ea typeface="Calibri" panose="020F0502020204030204" pitchFamily="34" charset="0"/>
                <a:cs typeface="Arial" panose="020B0604020202020204" pitchFamily="34" charset="0"/>
              </a:rPr>
            </a:br>
            <a:r>
              <a:rPr lang="en-US" kern="100" dirty="0">
                <a:latin typeface="Calibri" panose="020F0502020204030204" pitchFamily="34" charset="0"/>
                <a:ea typeface="Calibri" panose="020F0502020204030204" pitchFamily="34" charset="0"/>
                <a:cs typeface="Arial" panose="020B0604020202020204" pitchFamily="34" charset="0"/>
              </a:rPr>
              <a:t>The classification decision is based on the model’s </a:t>
            </a:r>
            <a:r>
              <a:rPr lang="en-US" b="1" kern="100" dirty="0">
                <a:latin typeface="Calibri" panose="020F0502020204030204" pitchFamily="34" charset="0"/>
                <a:ea typeface="Calibri" panose="020F0502020204030204" pitchFamily="34" charset="0"/>
                <a:cs typeface="Arial" panose="020B0604020202020204" pitchFamily="34" charset="0"/>
              </a:rPr>
              <a:t>output</a:t>
            </a:r>
            <a:r>
              <a:rPr lang="en-US" kern="100" dirty="0">
                <a:latin typeface="Calibri" panose="020F0502020204030204" pitchFamily="34" charset="0"/>
                <a:ea typeface="Calibri" panose="020F0502020204030204" pitchFamily="34" charset="0"/>
                <a:cs typeface="Arial" panose="020B0604020202020204" pitchFamily="34" charset="0"/>
              </a:rPr>
              <a:t>, which represents a combination of:</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100" dirty="0">
                <a:latin typeface="Calibri" panose="020F0502020204030204" pitchFamily="34" charset="0"/>
                <a:ea typeface="Calibri" panose="020F0502020204030204" pitchFamily="34" charset="0"/>
                <a:cs typeface="Arial" panose="020B0604020202020204" pitchFamily="34" charset="0"/>
              </a:rPr>
              <a:t>Keyword matching</a:t>
            </a:r>
            <a:endParaRPr lang="en-US" kern="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b="1" kern="100" dirty="0">
                <a:latin typeface="Calibri" panose="020F0502020204030204" pitchFamily="34" charset="0"/>
                <a:ea typeface="Calibri" panose="020F0502020204030204" pitchFamily="34" charset="0"/>
                <a:cs typeface="Arial" panose="020B0604020202020204" pitchFamily="34" charset="0"/>
              </a:rPr>
              <a:t>Semantic similarity score</a:t>
            </a:r>
            <a:endParaRPr lang="en-US" kern="1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800"/>
              </a:spcAft>
            </a:pPr>
            <a:r>
              <a:rPr lang="en-US" kern="100" dirty="0">
                <a:latin typeface="Calibri" panose="020F0502020204030204" pitchFamily="34" charset="0"/>
                <a:ea typeface="Calibri" panose="020F0502020204030204" pitchFamily="34" charset="0"/>
                <a:cs typeface="Arial" panose="020B0604020202020204" pitchFamily="34" charset="0"/>
              </a:rPr>
              <a:t>Following classification, the model’s output is compared against a </a:t>
            </a:r>
            <a:r>
              <a:rPr lang="en-US" b="1" kern="100" dirty="0">
                <a:latin typeface="Calibri" panose="020F0502020204030204" pitchFamily="34" charset="0"/>
                <a:ea typeface="Calibri" panose="020F0502020204030204" pitchFamily="34" charset="0"/>
                <a:cs typeface="Arial" panose="020B0604020202020204" pitchFamily="34" charset="0"/>
              </a:rPr>
              <a:t>manual ground truth assessment</a:t>
            </a:r>
            <a:r>
              <a:rPr lang="en-US" kern="100" dirty="0">
                <a:latin typeface="Calibri" panose="020F0502020204030204" pitchFamily="34" charset="0"/>
                <a:ea typeface="Calibri" panose="020F0502020204030204" pitchFamily="34" charset="0"/>
                <a:cs typeface="Arial" panose="020B0604020202020204" pitchFamily="34" charset="0"/>
              </a:rPr>
              <a:t>, which serves as a reference for evaluating the correctness of each prediction.</a:t>
            </a:r>
          </a:p>
          <a:p>
            <a:pPr>
              <a:lnSpc>
                <a:spcPct val="115000"/>
              </a:lnSpc>
              <a:spcAft>
                <a:spcPts val="800"/>
              </a:spcAft>
            </a:pPr>
            <a:br>
              <a:rPr lang="en-US" dirty="0">
                <a:latin typeface="Calibri" panose="020F0502020204030204" pitchFamily="34" charset="0"/>
                <a:ea typeface="Calibri" panose="020F0502020204030204" pitchFamily="34" charset="0"/>
                <a:cs typeface="Arial" panose="020B0604020202020204" pitchFamily="34" charset="0"/>
              </a:rPr>
            </a:br>
            <a:r>
              <a:rPr lang="en-US" kern="100" dirty="0">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1763536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8896" y="3063834"/>
            <a:ext cx="4965742" cy="1107996"/>
          </a:xfrm>
          <a:prstGeom prst="rect">
            <a:avLst/>
          </a:prstGeom>
          <a:noFill/>
        </p:spPr>
        <p:txBody>
          <a:bodyPr wrap="square" lIns="91440" tIns="45720" rIns="91440" bIns="45720">
            <a:spAutoFit/>
          </a:bodyPr>
          <a:lstStyle/>
          <a:p>
            <a:pPr algn="ctr"/>
            <a:r>
              <a:rPr lang="en-GB" sz="6600" b="1" dirty="0">
                <a:ln w="0"/>
                <a:solidFill>
                  <a:srgbClr val="006747"/>
                </a:solidFill>
              </a:rPr>
              <a:t>Conclusion</a:t>
            </a:r>
            <a:endParaRPr lang="en-US" sz="6600" b="1" cap="none" spc="0" dirty="0">
              <a:ln w="0"/>
              <a:solidFill>
                <a:srgbClr val="006747"/>
              </a:solidFill>
            </a:endParaRPr>
          </a:p>
        </p:txBody>
      </p:sp>
    </p:spTree>
    <p:extLst>
      <p:ext uri="{BB962C8B-B14F-4D97-AF65-F5344CB8AC3E}">
        <p14:creationId xmlns:p14="http://schemas.microsoft.com/office/powerpoint/2010/main" val="2495660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140" y="903550"/>
            <a:ext cx="13787252" cy="5896679"/>
          </a:xfrm>
          <a:prstGeom prst="rect">
            <a:avLst/>
          </a:prstGeom>
        </p:spPr>
        <p:txBody>
          <a:bodyPr wrap="square">
            <a:spAutoFit/>
          </a:bodyPr>
          <a:lstStyle/>
          <a:p>
            <a:pPr>
              <a:lnSpc>
                <a:spcPct val="115000"/>
              </a:lnSpc>
              <a:spcAft>
                <a:spcPts val="800"/>
              </a:spcAft>
            </a:pPr>
            <a:r>
              <a:rPr lang="en-US" sz="2400" kern="100" dirty="0">
                <a:latin typeface="Calibri" panose="020F0502020204030204" pitchFamily="34" charset="0"/>
                <a:ea typeface="Calibri" panose="020F0502020204030204" pitchFamily="34" charset="0"/>
                <a:cs typeface="Arial" panose="020B0604020202020204" pitchFamily="34" charset="0"/>
              </a:rPr>
              <a:t>In conclusion, this project was not merely an exercise in data presentation or dashboard creation.</a:t>
            </a:r>
            <a:br>
              <a:rPr lang="en-US" sz="2400" kern="100" dirty="0">
                <a:latin typeface="Calibri" panose="020F0502020204030204" pitchFamily="34" charset="0"/>
                <a:ea typeface="Calibri" panose="020F0502020204030204" pitchFamily="34" charset="0"/>
                <a:cs typeface="Arial" panose="020B0604020202020204" pitchFamily="34" charset="0"/>
              </a:rPr>
            </a:br>
            <a:r>
              <a:rPr lang="en-US" sz="2400" kern="100" dirty="0">
                <a:latin typeface="Calibri" panose="020F0502020204030204" pitchFamily="34" charset="0"/>
                <a:ea typeface="Calibri" panose="020F0502020204030204" pitchFamily="34" charset="0"/>
                <a:cs typeface="Arial" panose="020B0604020202020204" pitchFamily="34" charset="0"/>
              </a:rPr>
              <a:t>Rather, it represents an attempt to build an </a:t>
            </a:r>
            <a:r>
              <a:rPr lang="en-US" sz="2400" b="1" kern="100" dirty="0">
                <a:latin typeface="Calibri" panose="020F0502020204030204" pitchFamily="34" charset="0"/>
                <a:ea typeface="Calibri" panose="020F0502020204030204" pitchFamily="34" charset="0"/>
                <a:cs typeface="Arial" panose="020B0604020202020204" pitchFamily="34" charset="0"/>
              </a:rPr>
              <a:t>integrated Business Intelligence framework</a:t>
            </a:r>
            <a:r>
              <a:rPr lang="en-US" sz="2400" kern="100" dirty="0">
                <a:latin typeface="Calibri" panose="020F0502020204030204" pitchFamily="34" charset="0"/>
                <a:ea typeface="Calibri" panose="020F0502020204030204" pitchFamily="34" charset="0"/>
                <a:cs typeface="Arial" panose="020B0604020202020204" pitchFamily="34" charset="0"/>
              </a:rPr>
              <a:t> that addresses a real humanitarian challenge related to </a:t>
            </a:r>
            <a:r>
              <a:rPr lang="en-US" sz="2400" b="1" kern="100" dirty="0">
                <a:latin typeface="Calibri" panose="020F0502020204030204" pitchFamily="34" charset="0"/>
                <a:ea typeface="Calibri" panose="020F0502020204030204" pitchFamily="34" charset="0"/>
                <a:cs typeface="Arial" panose="020B0604020202020204" pitchFamily="34" charset="0"/>
              </a:rPr>
              <a:t>food security and education in Gaza</a:t>
            </a:r>
            <a:r>
              <a:rPr lang="en-US" sz="2400" kern="100" dirty="0">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800"/>
              </a:spcAft>
            </a:pPr>
            <a:r>
              <a:rPr lang="en-US" sz="2400" kern="100" dirty="0">
                <a:latin typeface="Calibri" panose="020F0502020204030204" pitchFamily="34" charset="0"/>
                <a:ea typeface="Calibri" panose="020F0502020204030204" pitchFamily="34" charset="0"/>
                <a:cs typeface="Arial" panose="020B0604020202020204" pitchFamily="34" charset="0"/>
              </a:rPr>
              <a:t>Through the use of </a:t>
            </a:r>
            <a:r>
              <a:rPr lang="en-US" sz="2400" b="1" kern="100" dirty="0">
                <a:latin typeface="Calibri" panose="020F0502020204030204" pitchFamily="34" charset="0"/>
                <a:ea typeface="Calibri" panose="020F0502020204030204" pitchFamily="34" charset="0"/>
                <a:cs typeface="Arial" panose="020B0604020202020204" pitchFamily="34" charset="0"/>
              </a:rPr>
              <a:t>Power BI</a:t>
            </a:r>
            <a:r>
              <a:rPr lang="en-US" sz="2400" kern="100" dirty="0">
                <a:latin typeface="Calibri" panose="020F0502020204030204" pitchFamily="34" charset="0"/>
                <a:ea typeface="Calibri" panose="020F0502020204030204" pitchFamily="34" charset="0"/>
                <a:cs typeface="Arial" panose="020B0604020202020204" pitchFamily="34" charset="0"/>
              </a:rPr>
              <a:t>, the data was transformed from </a:t>
            </a:r>
            <a:r>
              <a:rPr lang="en-US" sz="2400" b="1" kern="100" dirty="0">
                <a:latin typeface="Calibri" panose="020F0502020204030204" pitchFamily="34" charset="0"/>
                <a:ea typeface="Calibri" panose="020F0502020204030204" pitchFamily="34" charset="0"/>
                <a:cs typeface="Arial" panose="020B0604020202020204" pitchFamily="34" charset="0"/>
              </a:rPr>
              <a:t>raw records</a:t>
            </a:r>
            <a:r>
              <a:rPr lang="en-US" sz="2400" kern="100" dirty="0">
                <a:latin typeface="Calibri" panose="020F0502020204030204" pitchFamily="34" charset="0"/>
                <a:ea typeface="Calibri" panose="020F0502020204030204" pitchFamily="34" charset="0"/>
                <a:cs typeface="Arial" panose="020B0604020202020204" pitchFamily="34" charset="0"/>
              </a:rPr>
              <a:t> into </a:t>
            </a:r>
            <a:r>
              <a:rPr lang="en-US" sz="2400" b="1" kern="100" dirty="0">
                <a:latin typeface="Calibri" panose="020F0502020204030204" pitchFamily="34" charset="0"/>
                <a:ea typeface="Calibri" panose="020F0502020204030204" pitchFamily="34" charset="0"/>
                <a:cs typeface="Arial" panose="020B0604020202020204" pitchFamily="34" charset="0"/>
              </a:rPr>
              <a:t>clear and actionable insights</a:t>
            </a:r>
            <a:r>
              <a:rPr lang="en-US" sz="2400" kern="100" dirty="0">
                <a:latin typeface="Calibri" panose="020F0502020204030204" pitchFamily="34" charset="0"/>
                <a:ea typeface="Calibri" panose="020F0502020204030204" pitchFamily="34" charset="0"/>
                <a:cs typeface="Arial" panose="020B0604020202020204" pitchFamily="34" charset="0"/>
              </a:rPr>
              <a:t>, answering fundamental analytical questions such as:</a:t>
            </a:r>
            <a:br>
              <a:rPr lang="en-US" sz="2400" kern="100" dirty="0">
                <a:latin typeface="Calibri" panose="020F0502020204030204" pitchFamily="34" charset="0"/>
                <a:ea typeface="Calibri" panose="020F0502020204030204" pitchFamily="34" charset="0"/>
                <a:cs typeface="Arial" panose="020B0604020202020204" pitchFamily="34" charset="0"/>
              </a:rPr>
            </a:br>
            <a:r>
              <a:rPr lang="en-US" sz="2400" i="1" kern="100" dirty="0">
                <a:latin typeface="Calibri" panose="020F0502020204030204" pitchFamily="34" charset="0"/>
                <a:ea typeface="Calibri" panose="020F0502020204030204" pitchFamily="34" charset="0"/>
                <a:cs typeface="Arial" panose="020B0604020202020204" pitchFamily="34" charset="0"/>
              </a:rPr>
              <a:t>what is happening, when it is happening, where it is happening, and at what scale</a:t>
            </a:r>
            <a:r>
              <a:rPr lang="en-US" sz="2400" kern="100" dirty="0">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800"/>
              </a:spcAft>
            </a:pPr>
            <a:r>
              <a:rPr lang="en-US" sz="2400" kern="100" dirty="0">
                <a:latin typeface="Calibri" panose="020F0502020204030204" pitchFamily="34" charset="0"/>
                <a:ea typeface="Calibri" panose="020F0502020204030204" pitchFamily="34" charset="0"/>
                <a:cs typeface="Arial" panose="020B0604020202020204" pitchFamily="34" charset="0"/>
              </a:rPr>
              <a:t>Furthermore, by incorporating </a:t>
            </a:r>
            <a:r>
              <a:rPr lang="en-US" sz="2400" b="1" kern="100" dirty="0">
                <a:latin typeface="Calibri" panose="020F0502020204030204" pitchFamily="34" charset="0"/>
                <a:ea typeface="Calibri" panose="020F0502020204030204" pitchFamily="34" charset="0"/>
                <a:cs typeface="Arial" panose="020B0604020202020204" pitchFamily="34" charset="0"/>
              </a:rPr>
              <a:t>Python and Natural Language Processing</a:t>
            </a:r>
            <a:r>
              <a:rPr lang="en-US" sz="2400" kern="100" dirty="0">
                <a:latin typeface="Calibri" panose="020F0502020204030204" pitchFamily="34" charset="0"/>
                <a:ea typeface="Calibri" panose="020F0502020204030204" pitchFamily="34" charset="0"/>
                <a:cs typeface="Arial" panose="020B0604020202020204" pitchFamily="34" charset="0"/>
              </a:rPr>
              <a:t>, the project added a contextual dimension to the analysis through the examination of media coverage.</a:t>
            </a:r>
            <a:br>
              <a:rPr lang="en-US" sz="2400" kern="100" dirty="0">
                <a:latin typeface="Calibri" panose="020F0502020204030204" pitchFamily="34" charset="0"/>
                <a:ea typeface="Calibri" panose="020F0502020204030204" pitchFamily="34" charset="0"/>
                <a:cs typeface="Arial" panose="020B0604020202020204" pitchFamily="34" charset="0"/>
              </a:rPr>
            </a:br>
            <a:r>
              <a:rPr lang="en-US" sz="2400" kern="100" dirty="0">
                <a:latin typeface="Calibri" panose="020F0502020204030204" pitchFamily="34" charset="0"/>
                <a:ea typeface="Calibri" panose="020F0502020204030204" pitchFamily="34" charset="0"/>
                <a:cs typeface="Arial" panose="020B0604020202020204" pitchFamily="34" charset="0"/>
              </a:rPr>
              <a:t>This approach enabled the linkage between </a:t>
            </a:r>
            <a:r>
              <a:rPr lang="en-US" sz="2400" b="1" kern="100" dirty="0">
                <a:latin typeface="Calibri" panose="020F0502020204030204" pitchFamily="34" charset="0"/>
                <a:ea typeface="Calibri" panose="020F0502020204030204" pitchFamily="34" charset="0"/>
                <a:cs typeface="Arial" panose="020B0604020202020204" pitchFamily="34" charset="0"/>
              </a:rPr>
              <a:t>quantitative analysis</a:t>
            </a:r>
            <a:r>
              <a:rPr lang="en-US" sz="2400" kern="100" dirty="0">
                <a:latin typeface="Calibri" panose="020F0502020204030204" pitchFamily="34" charset="0"/>
                <a:ea typeface="Calibri" panose="020F0502020204030204" pitchFamily="34" charset="0"/>
                <a:cs typeface="Arial" panose="020B0604020202020204" pitchFamily="34" charset="0"/>
              </a:rPr>
              <a:t> and the surrounding </a:t>
            </a:r>
            <a:r>
              <a:rPr lang="en-US" sz="2400" b="1" kern="100" dirty="0">
                <a:latin typeface="Calibri" panose="020F0502020204030204" pitchFamily="34" charset="0"/>
                <a:ea typeface="Calibri" panose="020F0502020204030204" pitchFamily="34" charset="0"/>
                <a:cs typeface="Arial" panose="020B0604020202020204" pitchFamily="34" charset="0"/>
              </a:rPr>
              <a:t>narrative of the conflict</a:t>
            </a:r>
            <a:r>
              <a:rPr lang="en-US" sz="2400" kern="100" dirty="0">
                <a:latin typeface="Calibri" panose="020F0502020204030204" pitchFamily="34" charset="0"/>
                <a:ea typeface="Calibri" panose="020F0502020204030204" pitchFamily="34" charset="0"/>
                <a:cs typeface="Arial" panose="020B0604020202020204" pitchFamily="34" charset="0"/>
              </a:rPr>
              <a:t>, providing a more comprehensive understanding of events.</a:t>
            </a:r>
          </a:p>
          <a:p>
            <a:pPr>
              <a:lnSpc>
                <a:spcPct val="115000"/>
              </a:lnSpc>
              <a:spcAft>
                <a:spcPts val="800"/>
              </a:spcAft>
            </a:pPr>
            <a:r>
              <a:rPr lang="en-US" sz="2400" kern="100" dirty="0">
                <a:latin typeface="Calibri" panose="020F0502020204030204" pitchFamily="34" charset="0"/>
                <a:ea typeface="Calibri" panose="020F0502020204030204" pitchFamily="34" charset="0"/>
                <a:cs typeface="Arial" panose="020B0604020202020204" pitchFamily="34" charset="0"/>
              </a:rPr>
              <a:t>In addition, the evaluation methodology based on </a:t>
            </a:r>
            <a:r>
              <a:rPr lang="en-US" sz="2400" b="1" kern="100" dirty="0">
                <a:latin typeface="Calibri" panose="020F0502020204030204" pitchFamily="34" charset="0"/>
                <a:ea typeface="Calibri" panose="020F0502020204030204" pitchFamily="34" charset="0"/>
                <a:cs typeface="Arial" panose="020B0604020202020204" pitchFamily="34" charset="0"/>
              </a:rPr>
              <a:t>True Positives, True Negatives, False Positives, and False Negatives</a:t>
            </a:r>
            <a:r>
              <a:rPr lang="en-US" sz="2400" kern="100" dirty="0">
                <a:latin typeface="Calibri" panose="020F0502020204030204" pitchFamily="34" charset="0"/>
                <a:ea typeface="Calibri" panose="020F0502020204030204" pitchFamily="34" charset="0"/>
                <a:cs typeface="Arial" panose="020B0604020202020204" pitchFamily="34" charset="0"/>
              </a:rPr>
              <a:t> provided a </a:t>
            </a:r>
            <a:r>
              <a:rPr lang="en-US" sz="2400" b="1" kern="100" dirty="0">
                <a:latin typeface="Calibri" panose="020F0502020204030204" pitchFamily="34" charset="0"/>
                <a:ea typeface="Calibri" panose="020F0502020204030204" pitchFamily="34" charset="0"/>
                <a:cs typeface="Arial" panose="020B0604020202020204" pitchFamily="34" charset="0"/>
              </a:rPr>
              <a:t>transparent and extensible framework</a:t>
            </a:r>
            <a:r>
              <a:rPr lang="en-US" sz="2400" kern="100" dirty="0">
                <a:latin typeface="Calibri" panose="020F0502020204030204" pitchFamily="34" charset="0"/>
                <a:ea typeface="Calibri" panose="020F0502020204030204" pitchFamily="34" charset="0"/>
                <a:cs typeface="Arial" panose="020B0604020202020204" pitchFamily="34" charset="0"/>
              </a:rPr>
              <a:t> for assessing model performance, even in the absence of labeled training data.</a:t>
            </a:r>
          </a:p>
        </p:txBody>
      </p:sp>
      <p:sp>
        <p:nvSpPr>
          <p:cNvPr id="3" name="Rectangle 2"/>
          <p:cNvSpPr/>
          <p:nvPr/>
        </p:nvSpPr>
        <p:spPr>
          <a:xfrm>
            <a:off x="5388776" y="144881"/>
            <a:ext cx="3852848" cy="758669"/>
          </a:xfrm>
          <a:prstGeom prst="rect">
            <a:avLst/>
          </a:prstGeom>
        </p:spPr>
        <p:txBody>
          <a:bodyPr wrap="square">
            <a:spAutoFit/>
          </a:bodyPr>
          <a:lstStyle/>
          <a:p>
            <a:pPr algn="ctr">
              <a:lnSpc>
                <a:spcPct val="115000"/>
              </a:lnSpc>
              <a:spcAft>
                <a:spcPts val="800"/>
              </a:spcAft>
            </a:pPr>
            <a:r>
              <a:rPr lang="en-US" sz="4000" b="1" kern="100" dirty="0">
                <a:solidFill>
                  <a:srgbClr val="006747"/>
                </a:solidFill>
                <a:latin typeface="Calibri" panose="020F0502020204030204" pitchFamily="34" charset="0"/>
                <a:ea typeface="Calibri" panose="020F0502020204030204" pitchFamily="34" charset="0"/>
                <a:cs typeface="Arial" panose="020B0604020202020204" pitchFamily="34" charset="0"/>
              </a:rPr>
              <a:t>Conclusion</a:t>
            </a:r>
            <a:endParaRPr lang="en-US" b="1" kern="100" dirty="0">
              <a:solidFill>
                <a:srgbClr val="006747"/>
              </a:solidFill>
              <a:latin typeface="Calibri" panose="020F0502020204030204" pitchFamily="34" charset="0"/>
              <a:ea typeface="Calibri" panose="020F0502020204030204" pitchFamily="34" charset="0"/>
              <a:cs typeface="Arial" panose="020B0604020202020204" pitchFamily="34" charset="0"/>
            </a:endParaRPr>
          </a:p>
        </p:txBody>
      </p:sp>
      <p:sp>
        <p:nvSpPr>
          <p:cNvPr id="4" name="Shape 10"/>
          <p:cNvSpPr/>
          <p:nvPr/>
        </p:nvSpPr>
        <p:spPr>
          <a:xfrm>
            <a:off x="13720564" y="7754769"/>
            <a:ext cx="770930" cy="373142"/>
          </a:xfrm>
          <a:prstGeom prst="roundRect">
            <a:avLst>
              <a:gd name="adj" fmla="val 38297"/>
            </a:avLst>
          </a:prstGeom>
          <a:solidFill>
            <a:srgbClr val="CCFFEF"/>
          </a:solidFill>
          <a:ln/>
        </p:spPr>
        <p:txBody>
          <a:bodyPr/>
          <a:lstStyle/>
          <a:p>
            <a:endParaRPr lang="en-US"/>
          </a:p>
        </p:txBody>
      </p:sp>
      <p:sp>
        <p:nvSpPr>
          <p:cNvPr id="5" name="Text 11"/>
          <p:cNvSpPr/>
          <p:nvPr/>
        </p:nvSpPr>
        <p:spPr>
          <a:xfrm>
            <a:off x="13958629" y="7814300"/>
            <a:ext cx="294799" cy="254079"/>
          </a:xfrm>
          <a:prstGeom prst="rect">
            <a:avLst/>
          </a:prstGeom>
          <a:noFill/>
          <a:ln/>
        </p:spPr>
        <p:txBody>
          <a:bodyPr wrap="non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K&amp;J</a:t>
            </a:r>
            <a:endParaRPr lang="en-US" sz="1250" b="1" dirty="0"/>
          </a:p>
        </p:txBody>
      </p:sp>
    </p:spTree>
    <p:extLst>
      <p:ext uri="{BB962C8B-B14F-4D97-AF65-F5344CB8AC3E}">
        <p14:creationId xmlns:p14="http://schemas.microsoft.com/office/powerpoint/2010/main" val="1881188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2091" y="320035"/>
            <a:ext cx="6924203" cy="707886"/>
          </a:xfrm>
          <a:prstGeom prst="rect">
            <a:avLst/>
          </a:prstGeom>
        </p:spPr>
        <p:txBody>
          <a:bodyPr wrap="none">
            <a:spAutoFit/>
          </a:bodyPr>
          <a:lstStyle/>
          <a:p>
            <a:pPr algn="ctr"/>
            <a:r>
              <a:rPr lang="en-US" sz="4000" b="1" dirty="0">
                <a:solidFill>
                  <a:srgbClr val="006747"/>
                </a:solidFill>
                <a:latin typeface="Calibri" panose="020F0502020204030204" pitchFamily="34" charset="0"/>
                <a:ea typeface="Calibri" panose="020F0502020204030204" pitchFamily="34" charset="0"/>
                <a:cs typeface="Arial" panose="020B0604020202020204" pitchFamily="34" charset="0"/>
              </a:rPr>
              <a:t>Beneficiaries and Final Remarks</a:t>
            </a:r>
            <a:endParaRPr lang="en-US" sz="4000" b="1" dirty="0">
              <a:solidFill>
                <a:srgbClr val="006747"/>
              </a:solidFill>
            </a:endParaRPr>
          </a:p>
        </p:txBody>
      </p:sp>
      <p:sp>
        <p:nvSpPr>
          <p:cNvPr id="3" name="Rectangle 2"/>
          <p:cNvSpPr/>
          <p:nvPr/>
        </p:nvSpPr>
        <p:spPr>
          <a:xfrm>
            <a:off x="602262" y="1202400"/>
            <a:ext cx="13042485" cy="5824800"/>
          </a:xfrm>
          <a:prstGeom prst="rect">
            <a:avLst/>
          </a:prstGeom>
        </p:spPr>
        <p:txBody>
          <a:bodyPr wrap="square">
            <a:spAutoFit/>
          </a:bodyPr>
          <a:lstStyle/>
          <a:p>
            <a:pPr>
              <a:lnSpc>
                <a:spcPct val="115000"/>
              </a:lnSpc>
              <a:spcAft>
                <a:spcPts val="800"/>
              </a:spcAft>
            </a:pPr>
            <a:r>
              <a:rPr lang="en-US" sz="3200" kern="100" dirty="0">
                <a:latin typeface="Calibri" panose="020F0502020204030204" pitchFamily="34" charset="0"/>
                <a:ea typeface="Calibri" panose="020F0502020204030204" pitchFamily="34" charset="0"/>
                <a:cs typeface="Arial" panose="020B0604020202020204" pitchFamily="34" charset="0"/>
              </a:rPr>
              <a:t>The primary beneficiaries of this work include </a:t>
            </a:r>
            <a:r>
              <a:rPr lang="en-US" sz="3200" b="1" kern="100" dirty="0">
                <a:latin typeface="Calibri" panose="020F0502020204030204" pitchFamily="34" charset="0"/>
                <a:ea typeface="Calibri" panose="020F0502020204030204" pitchFamily="34" charset="0"/>
                <a:cs typeface="Arial" panose="020B0604020202020204" pitchFamily="34" charset="0"/>
              </a:rPr>
              <a:t>decision-makers, humanitarian organizations, and researchers</a:t>
            </a:r>
            <a:r>
              <a:rPr lang="en-US" sz="3200" kern="100" dirty="0">
                <a:latin typeface="Calibri" panose="020F0502020204030204" pitchFamily="34" charset="0"/>
                <a:ea typeface="Calibri" panose="020F0502020204030204" pitchFamily="34" charset="0"/>
                <a:cs typeface="Arial" panose="020B0604020202020204" pitchFamily="34" charset="0"/>
              </a:rPr>
              <a:t>.</a:t>
            </a:r>
            <a:br>
              <a:rPr lang="en-US" sz="3200" kern="100" dirty="0">
                <a:latin typeface="Calibri" panose="020F0502020204030204" pitchFamily="34" charset="0"/>
                <a:ea typeface="Calibri" panose="020F0502020204030204" pitchFamily="34" charset="0"/>
                <a:cs typeface="Arial" panose="020B0604020202020204" pitchFamily="34" charset="0"/>
              </a:rPr>
            </a:br>
            <a:r>
              <a:rPr lang="en-US" sz="3200" kern="100" dirty="0">
                <a:latin typeface="Calibri" panose="020F0502020204030204" pitchFamily="34" charset="0"/>
                <a:ea typeface="Calibri" panose="020F0502020204030204" pitchFamily="34" charset="0"/>
                <a:cs typeface="Arial" panose="020B0604020202020204" pitchFamily="34" charset="0"/>
              </a:rPr>
              <a:t>The project provides an analytical tool that supports a deeper understanding of the </a:t>
            </a:r>
            <a:r>
              <a:rPr lang="en-US" sz="3200" b="1" kern="100" dirty="0">
                <a:latin typeface="Calibri" panose="020F0502020204030204" pitchFamily="34" charset="0"/>
                <a:ea typeface="Calibri" panose="020F0502020204030204" pitchFamily="34" charset="0"/>
                <a:cs typeface="Arial" panose="020B0604020202020204" pitchFamily="34" charset="0"/>
              </a:rPr>
              <a:t>temporal and spatial patterns</a:t>
            </a:r>
            <a:r>
              <a:rPr lang="en-US" sz="3200" kern="100" dirty="0">
                <a:latin typeface="Calibri" panose="020F0502020204030204" pitchFamily="34" charset="0"/>
                <a:ea typeface="Calibri" panose="020F0502020204030204" pitchFamily="34" charset="0"/>
                <a:cs typeface="Arial" panose="020B0604020202020204" pitchFamily="34" charset="0"/>
              </a:rPr>
              <a:t> of humanitarian impact, enabling improved planning, priority setting, and </a:t>
            </a:r>
            <a:r>
              <a:rPr lang="en-US" sz="3200" b="1" kern="100" dirty="0">
                <a:latin typeface="Calibri" panose="020F0502020204030204" pitchFamily="34" charset="0"/>
                <a:ea typeface="Calibri" panose="020F0502020204030204" pitchFamily="34" charset="0"/>
                <a:cs typeface="Arial" panose="020B0604020202020204" pitchFamily="34" charset="0"/>
              </a:rPr>
              <a:t>data-driven decision-making</a:t>
            </a:r>
            <a:r>
              <a:rPr lang="en-US" sz="3200" kern="100" dirty="0">
                <a:latin typeface="Calibri" panose="020F0502020204030204" pitchFamily="34" charset="0"/>
                <a:ea typeface="Calibri" panose="020F0502020204030204" pitchFamily="34" charset="0"/>
                <a:cs typeface="Arial" panose="020B0604020202020204" pitchFamily="34" charset="0"/>
              </a:rPr>
              <a:t>, rather than reliance on purely descriptive reports.</a:t>
            </a:r>
          </a:p>
          <a:p>
            <a:pPr>
              <a:lnSpc>
                <a:spcPct val="115000"/>
              </a:lnSpc>
              <a:spcAft>
                <a:spcPts val="800"/>
              </a:spcAft>
            </a:pPr>
            <a:r>
              <a:rPr lang="en-US" sz="3200" kern="100" dirty="0">
                <a:latin typeface="Calibri" panose="020F0502020204030204" pitchFamily="34" charset="0"/>
                <a:ea typeface="Calibri" panose="020F0502020204030204" pitchFamily="34" charset="0"/>
                <a:cs typeface="Arial" panose="020B0604020202020204" pitchFamily="34" charset="0"/>
              </a:rPr>
              <a:t>Overall, this project demonstrates how </a:t>
            </a:r>
            <a:r>
              <a:rPr lang="en-US" sz="3200" b="1" kern="100" dirty="0">
                <a:latin typeface="Calibri" panose="020F0502020204030204" pitchFamily="34" charset="0"/>
                <a:ea typeface="Calibri" panose="020F0502020204030204" pitchFamily="34" charset="0"/>
                <a:cs typeface="Arial" panose="020B0604020202020204" pitchFamily="34" charset="0"/>
              </a:rPr>
              <a:t>Business Intelligence</a:t>
            </a:r>
            <a:r>
              <a:rPr lang="en-US" sz="3200" kern="100" dirty="0">
                <a:latin typeface="Calibri" panose="020F0502020204030204" pitchFamily="34" charset="0"/>
                <a:ea typeface="Calibri" panose="020F0502020204030204" pitchFamily="34" charset="0"/>
                <a:cs typeface="Arial" panose="020B0604020202020204" pitchFamily="34" charset="0"/>
              </a:rPr>
              <a:t> can be effectively combined with </a:t>
            </a:r>
            <a:r>
              <a:rPr lang="en-US" sz="3200" b="1" kern="100" dirty="0">
                <a:latin typeface="Calibri" panose="020F0502020204030204" pitchFamily="34" charset="0"/>
                <a:ea typeface="Calibri" panose="020F0502020204030204" pitchFamily="34" charset="0"/>
                <a:cs typeface="Arial" panose="020B0604020202020204" pitchFamily="34" charset="0"/>
              </a:rPr>
              <a:t>Advanced Analytics</a:t>
            </a:r>
            <a:r>
              <a:rPr lang="en-US" sz="3200" kern="100" dirty="0">
                <a:latin typeface="Calibri" panose="020F0502020204030204" pitchFamily="34" charset="0"/>
                <a:ea typeface="Calibri" panose="020F0502020204030204" pitchFamily="34" charset="0"/>
                <a:cs typeface="Arial" panose="020B0604020202020204" pitchFamily="34" charset="0"/>
              </a:rPr>
              <a:t> to move beyond traditional reporting and toward </a:t>
            </a:r>
            <a:r>
              <a:rPr lang="en-US" sz="3200" b="1" kern="100" dirty="0">
                <a:latin typeface="Calibri" panose="020F0502020204030204" pitchFamily="34" charset="0"/>
                <a:ea typeface="Calibri" panose="020F0502020204030204" pitchFamily="34" charset="0"/>
                <a:cs typeface="Arial" panose="020B0604020202020204" pitchFamily="34" charset="0"/>
              </a:rPr>
              <a:t>real decision-support tools</a:t>
            </a:r>
            <a:r>
              <a:rPr lang="en-US" sz="3200" kern="100" dirty="0">
                <a:latin typeface="Calibri" panose="020F0502020204030204" pitchFamily="34" charset="0"/>
                <a:ea typeface="Calibri" panose="020F0502020204030204" pitchFamily="34" charset="0"/>
                <a:cs typeface="Arial" panose="020B0604020202020204" pitchFamily="34" charset="0"/>
              </a:rPr>
              <a:t> that are scalable and adaptable for future applications.</a:t>
            </a:r>
          </a:p>
        </p:txBody>
      </p:sp>
      <p:sp>
        <p:nvSpPr>
          <p:cNvPr id="5" name="Shape 10"/>
          <p:cNvSpPr/>
          <p:nvPr/>
        </p:nvSpPr>
        <p:spPr>
          <a:xfrm>
            <a:off x="13720564" y="7754769"/>
            <a:ext cx="770930" cy="373142"/>
          </a:xfrm>
          <a:prstGeom prst="roundRect">
            <a:avLst>
              <a:gd name="adj" fmla="val 38297"/>
            </a:avLst>
          </a:prstGeom>
          <a:solidFill>
            <a:srgbClr val="CCFFEF"/>
          </a:solidFill>
          <a:ln/>
        </p:spPr>
        <p:txBody>
          <a:bodyPr/>
          <a:lstStyle/>
          <a:p>
            <a:endParaRPr lang="en-US"/>
          </a:p>
        </p:txBody>
      </p:sp>
      <p:sp>
        <p:nvSpPr>
          <p:cNvPr id="6" name="Text 11"/>
          <p:cNvSpPr/>
          <p:nvPr/>
        </p:nvSpPr>
        <p:spPr>
          <a:xfrm>
            <a:off x="13958629" y="7814300"/>
            <a:ext cx="294799" cy="254079"/>
          </a:xfrm>
          <a:prstGeom prst="rect">
            <a:avLst/>
          </a:prstGeom>
          <a:noFill/>
          <a:ln/>
        </p:spPr>
        <p:txBody>
          <a:bodyPr wrap="none" lIns="0" tIns="0" rIns="0" bIns="0" rtlCol="0" anchor="t"/>
          <a:lstStyle/>
          <a:p>
            <a:pPr marL="0" indent="0" algn="l">
              <a:lnSpc>
                <a:spcPts val="2000"/>
              </a:lnSpc>
              <a:buNone/>
            </a:pPr>
            <a:r>
              <a:rPr lang="en-US" sz="1250" b="1" dirty="0">
                <a:solidFill>
                  <a:srgbClr val="4B4A4A"/>
                </a:solidFill>
                <a:latin typeface="Geist" pitchFamily="34" charset="0"/>
                <a:ea typeface="Geist" pitchFamily="34" charset="-122"/>
                <a:cs typeface="Geist" pitchFamily="34" charset="-120"/>
              </a:rPr>
              <a:t>K&amp;J</a:t>
            </a:r>
            <a:endParaRPr lang="en-US" sz="1250" b="1" dirty="0"/>
          </a:p>
        </p:txBody>
      </p:sp>
    </p:spTree>
    <p:extLst>
      <p:ext uri="{BB962C8B-B14F-4D97-AF65-F5344CB8AC3E}">
        <p14:creationId xmlns:p14="http://schemas.microsoft.com/office/powerpoint/2010/main" val="523623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812259" cy="8229600"/>
          </a:xfrm>
          <a:prstGeom prst="rect">
            <a:avLst/>
          </a:prstGeom>
        </p:spPr>
      </p:pic>
    </p:spTree>
    <p:extLst>
      <p:ext uri="{BB962C8B-B14F-4D97-AF65-F5344CB8AC3E}">
        <p14:creationId xmlns:p14="http://schemas.microsoft.com/office/powerpoint/2010/main" val="3376156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2595</Words>
  <Application>Microsoft Office PowerPoint</Application>
  <PresentationFormat>Custom</PresentationFormat>
  <Paragraphs>197</Paragraphs>
  <Slides>26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Noto Serif SC Light</vt:lpstr>
      <vt:lpstr>Arial</vt:lpstr>
      <vt:lpstr>Noto Serif SC Bold</vt:lpstr>
      <vt:lpstr>Symbol</vt:lpstr>
      <vt:lpstr>Geist</vt:lpstr>
      <vt:lpstr>Consolas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كمال محمد هيثم كمال الدين العبوه</cp:lastModifiedBy>
  <cp:revision>40</cp:revision>
  <dcterms:created xsi:type="dcterms:W3CDTF">2026-01-11T16:04:08Z</dcterms:created>
  <dcterms:modified xsi:type="dcterms:W3CDTF">2026-01-12T17:24:17Z</dcterms:modified>
</cp:coreProperties>
</file>